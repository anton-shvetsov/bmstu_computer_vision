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96" r:id="rId3"/>
    <p:sldId id="330" r:id="rId4"/>
    <p:sldId id="302" r:id="rId5"/>
    <p:sldId id="333" r:id="rId6"/>
    <p:sldId id="334" r:id="rId7"/>
    <p:sldId id="327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297" r:id="rId18"/>
    <p:sldId id="299" r:id="rId19"/>
    <p:sldId id="329" r:id="rId20"/>
    <p:sldId id="328" r:id="rId21"/>
    <p:sldId id="344" r:id="rId22"/>
    <p:sldId id="301" r:id="rId23"/>
    <p:sldId id="303" r:id="rId24"/>
    <p:sldId id="304" r:id="rId25"/>
    <p:sldId id="305" r:id="rId26"/>
    <p:sldId id="306" r:id="rId27"/>
    <p:sldId id="345" r:id="rId28"/>
    <p:sldId id="293" r:id="rId29"/>
    <p:sldId id="331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92202-A4C6-4B18-913E-F150348BB54C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FA41-1B99-4CF9-A293-9CB8B5782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116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BD17F-B6F7-D2D0-3630-012BD3FEF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8DA831-5D8D-D37F-C5AD-F9F1A98ED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320724-1352-C3A9-F2AA-0F161DCC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5661F-2E47-4F1A-94C8-0047034CC94A}" type="datetime1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937268-0EAB-1169-A8B2-06180A88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BB2750-F058-A380-3743-696059B96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518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CEE73-FF5F-D062-8CC5-8CDD5A4F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592C3B-FF04-3CDD-F8D3-D96870E61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D8B3E-0C15-3BBB-10E9-73474C9B5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677BD-6913-42DC-9F60-B5131F7590FD}" type="datetime1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90C292-299E-289C-C4C5-DF4A73B1E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CA3FBA-4315-3B13-6AD9-EF20822B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878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8B0F8-9531-246A-350F-18F57DB9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4ED5CA-A6A8-F8A8-EAF2-C5D7EDAE2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A1835A-4701-4541-B51C-AB65AF88F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B5A1-F125-49ED-8F70-7A593AB86F12}" type="datetime1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8A0C0A-E49C-3701-3F1D-A16AE4FEF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CF2EFE-1316-9937-893C-AEF3ACE91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94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3FD90-3A06-6EDD-09AA-67A7D6A56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63343F-1856-3FC0-2FE5-224687A8A5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2304A2-A8AB-49EA-813E-B899E3E38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8E7F94-673A-5908-F2A7-B5A0A4C0A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75DC-47F4-4B65-9FF0-95D877400511}" type="datetime1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9D10C7-CCB7-074E-BBF1-62FDCE584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DC28F4-3DD1-0930-418F-9261A9172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6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7DCA2-93E3-4A8F-E375-B26351300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50B223-5A46-1B7F-2518-B1695E29B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6FDC1E-0D03-43F8-3BE8-791DAEFCE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B752D2D-049E-6875-C4A0-78DF105A0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AF88B04-52FC-A4C7-222E-5E445B22FD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B40C4A-AD29-81C2-4B4C-A34A3EEA8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00BA-58DC-47A8-94C3-76D9473E5D40}" type="datetime1">
              <a:rPr lang="ru-RU" smtClean="0"/>
              <a:t>06.12.2025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C8F5526-7555-0A36-D599-DB2C93979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DECF9A-0E2A-8864-A192-91025021B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636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5DB98-A5B5-3438-3616-DF66F3DA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170717A-616B-3B17-373F-3F866473E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40CA9-59BC-4FC3-9257-DB085AFA537B}" type="datetime1">
              <a:rPr lang="ru-RU" smtClean="0"/>
              <a:t>06.12.2025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F9C2CB1-2633-0F01-61F4-D821EB2EB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34473C-F1C2-7452-CA68-4B736EC2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37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1B7CACC-DF26-B62A-AD80-9CF8CDD9C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2E7B5-296E-4FC9-9698-1A12EBD3C77E}" type="datetime1">
              <a:rPr lang="ru-RU" smtClean="0"/>
              <a:t>06.12.2025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C42A-449A-823F-419D-3907F1F07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1BA030-F1E0-FE9F-D717-74821A54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96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A86C9-5C65-B65D-425F-DE3113E11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5084B0-1F47-AAE3-0198-4E63A45CC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160BF8-1A7A-B36F-50A5-3998B09E9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8F8D2F-7724-1061-E98D-9E231407B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D8D67-4BCA-41DE-B53A-5CDB214A9D7F}" type="datetime1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62CD5AB-4E05-098A-0C4E-32CF1BDDF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355C40-5D02-2C51-A75F-95A784099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19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956929-FD75-C0AE-7C5C-C6456727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35B8921-5168-4761-240F-1F2D4296D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9AE9BF-D85D-484B-3084-2BB43B9DF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C30992-2BD0-C25C-D77B-DDDD95DF2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842-5E01-4B37-B81D-13D93A54C69E}" type="datetime1">
              <a:rPr lang="ru-RU" smtClean="0"/>
              <a:t>06.12.2025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71DED5-75B2-472E-7970-EEBC35C47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CE7235-A1FA-507C-BDA3-FF60840C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23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22671-5997-B3F0-1CF5-FE693B6F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C58ABE-0AA1-5035-CC95-C31EA7DEC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6E4E59-08D4-3F97-A481-26A03B87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870DC-E2F6-4BA1-A413-8348CFC8AC64}" type="datetime1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612C97-AD20-9B74-1D9E-20E6D0AF0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DBA50A-CF5D-F52F-ADFD-E27A8EC0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720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28371-BBF1-C052-5C83-60B90C189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90CBDC-54AC-0F04-BFCF-D191D5AE2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78DCFD-149E-564A-688C-62291B737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36101-0AFA-4532-BF56-F2210F74ECE4}" type="datetime1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5F0560-6883-F96E-16B1-C6C143DD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259203-947D-2A0B-2F17-691028A54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25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3F10A-1CBC-F46A-8ACA-52DEEE23C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2AAE10-3298-EBED-1AAB-4FC595678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2D3DF7-F658-A4E6-AC36-CFE634372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A7C43-A9C0-47F9-9ADE-B9EC444AE976}" type="datetime1">
              <a:rPr lang="ru-RU" smtClean="0"/>
              <a:t>06.12.2025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D00B84-0413-2BF8-AAE6-2D3092BE5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D3A335-BD73-C78E-0328-9E641CD68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5367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png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18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39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85.png"/><Relationship Id="rId7" Type="http://schemas.openxmlformats.org/officeDocument/2006/relationships/image" Target="../media/image82.png"/><Relationship Id="rId12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88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57.png"/><Relationship Id="rId9" Type="http://schemas.openxmlformats.org/officeDocument/2006/relationships/image" Target="../media/image8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67.png"/><Relationship Id="rId4" Type="http://schemas.openxmlformats.org/officeDocument/2006/relationships/image" Target="../media/image9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18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rasdat/Sophus" TargetMode="External"/><Relationship Id="rId7" Type="http://schemas.openxmlformats.org/officeDocument/2006/relationships/hyperlink" Target="https://github.com/laurentkneip/opengv" TargetMode="External"/><Relationship Id="rId2" Type="http://schemas.openxmlformats.org/officeDocument/2006/relationships/hyperlink" Target="https://gitlab.com/libeigen/eige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pencv.org/4.x/d9/db7/tutorial_py_table_of_contents_calib3d.html" TargetMode="External"/><Relationship Id="rId5" Type="http://schemas.openxmlformats.org/officeDocument/2006/relationships/hyperlink" Target="https://docs.opencv.org/4.x/d9/d0c/group__calib3d.html" TargetMode="External"/><Relationship Id="rId4" Type="http://schemas.openxmlformats.org/officeDocument/2006/relationships/hyperlink" Target="https://github.com/artivis/manif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cv.org/4.x/db/d27/tutorial_py_table_of_contents_feature2d.html" TargetMode="External"/><Relationship Id="rId2" Type="http://schemas.openxmlformats.org/officeDocument/2006/relationships/hyperlink" Target="https://deepschool.ru/3dcv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s.cmu.edu/~16385/s17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sipvision.com/real-time-slam-in-endoscopy-applications/" TargetMode="External"/><Relationship Id="rId2" Type="http://schemas.openxmlformats.org/officeDocument/2006/relationships/hyperlink" Target="https://link.springer.com/article/10.1007/s11517-022-02739-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html/2405.16932v1" TargetMode="External"/><Relationship Id="rId5" Type="http://schemas.openxmlformats.org/officeDocument/2006/relationships/hyperlink" Target="https://www.sciencedirect.com/science/article/pii/S1361841521001043" TargetMode="External"/><Relationship Id="rId4" Type="http://schemas.openxmlformats.org/officeDocument/2006/relationships/hyperlink" Target="https://www.youtube.com/watch?v=7I-d5LwIAQ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5AE178-3CA4-4E38-452D-6CA5374C33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SLAM</a:t>
            </a:r>
            <a:endParaRPr lang="ru-RU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88F493-C347-FB59-E7D8-D2F273FB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01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Обзор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51483C-CE1E-0553-78F6-A1D28D2F4713}"/>
              </a:ext>
            </a:extLst>
          </p:cNvPr>
          <p:cNvSpPr txBox="1"/>
          <p:nvPr/>
        </p:nvSpPr>
        <p:spPr>
          <a:xfrm>
            <a:off x="841797" y="1801681"/>
            <a:ext cx="82105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Что мы уже умеем?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Отображать точки из 3D в 2D и обратно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Преобразовывать 3D точки между камерами</a:t>
            </a:r>
          </a:p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Матчить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точки между изображениями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B14E5-487B-75D2-E845-EFA207AAEE72}"/>
              </a:ext>
            </a:extLst>
          </p:cNvPr>
          <p:cNvSpPr txBox="1"/>
          <p:nvPr/>
        </p:nvSpPr>
        <p:spPr>
          <a:xfrm>
            <a:off x="6678717" y="1801681"/>
            <a:ext cx="82105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Чему мы хотим научиться?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Находить позы камер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Находить глубины точек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FB3723-C323-1DC8-632B-8A7364A2E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298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О чем будем говорить?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88B399-90E8-18B2-5544-92D80035EC13}"/>
              </a:ext>
            </a:extLst>
          </p:cNvPr>
          <p:cNvSpPr txBox="1"/>
          <p:nvPr/>
        </p:nvSpPr>
        <p:spPr>
          <a:xfrm>
            <a:off x="838200" y="1690688"/>
            <a:ext cx="82105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Немного о трансформациях SE(3)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Эпиполярная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геометрия, существенная матрица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Восстановление позы по матчам точек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Восстановление 3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точек по найденной позе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Восстановление позы по матчам точек с глубиной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Шум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583F05-6115-00E3-42F9-A5DBB3E4A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345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SE(3)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F2A646-BD7A-1218-0D0D-F4E6F96EC8F2}"/>
              </a:ext>
            </a:extLst>
          </p:cNvPr>
          <p:cNvSpPr txBox="1"/>
          <p:nvPr/>
        </p:nvSpPr>
        <p:spPr>
          <a:xfrm>
            <a:off x="838200" y="1775777"/>
            <a:ext cx="44337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Для описания положения камеры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пространстве могут использоваться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2102" name="TextBox 2101">
            <a:extLst>
              <a:ext uri="{FF2B5EF4-FFF2-40B4-BE49-F238E27FC236}">
                <a16:creationId xmlns:a16="http://schemas.microsoft.com/office/drawing/2014/main" id="{3FE3CBC9-4A2C-8EF6-D0C4-3B0CEF839186}"/>
              </a:ext>
            </a:extLst>
          </p:cNvPr>
          <p:cNvSpPr txBox="1"/>
          <p:nvPr/>
        </p:nvSpPr>
        <p:spPr>
          <a:xfrm>
            <a:off x="838200" y="2944626"/>
            <a:ext cx="10278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Отличаются только описанием вращения, 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которые могут преобразовываться друг в друга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03" name="TextBox 2102">
            <a:extLst>
              <a:ext uri="{FF2B5EF4-FFF2-40B4-BE49-F238E27FC236}">
                <a16:creationId xmlns:a16="http://schemas.microsoft.com/office/drawing/2014/main" id="{AF8C8735-4EDB-B906-CDA7-9A86D6B0ACF2}"/>
              </a:ext>
            </a:extLst>
          </p:cNvPr>
          <p:cNvSpPr txBox="1"/>
          <p:nvPr/>
        </p:nvSpPr>
        <p:spPr>
          <a:xfrm>
            <a:off x="6682909" y="1775776"/>
            <a:ext cx="46708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SE(3)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Quaternion + translation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Euler angles + translation (Gimbal lock)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5" name="TextBox 2104">
                <a:extLst>
                  <a:ext uri="{FF2B5EF4-FFF2-40B4-BE49-F238E27FC236}">
                    <a16:creationId xmlns:a16="http://schemas.microsoft.com/office/drawing/2014/main" id="{C06D00B2-8397-76BE-E676-0E093B67971A}"/>
                  </a:ext>
                </a:extLst>
              </p:cNvPr>
              <p:cNvSpPr txBox="1"/>
              <p:nvPr/>
            </p:nvSpPr>
            <p:spPr>
              <a:xfrm>
                <a:off x="838200" y="4375930"/>
                <a:ext cx="8647817" cy="17607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b="0" dirty="0"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func>
                                        <m:func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  <m:brk m:alnAt="7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c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os</m:t>
                                              </m:r>
                                            </m:fName>
                                            <m:e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𝛾</m:t>
                                              </m:r>
                                            </m:e>
                                          </m:func>
                                        </m:e>
                                      </m:func>
                                    </m:e>
                                  </m:func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func>
                                        <m:func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fNam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𝛾</m:t>
                                              </m:r>
                                            </m:e>
                                          </m:func>
                                        </m:e>
                                      </m:func>
                                    </m:e>
                                  </m:func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os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func>
                                    <m:func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func>
                                        <m:func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os</m:t>
                                          </m:r>
                                        </m:fName>
                                        <m:e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</m:func>
                                      <m:func>
                                        <m:func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os</m:t>
                                          </m:r>
                                        </m:fName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</m:func>
                                    </m:e>
                                  </m:func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func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func>
                                        <m:func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fNam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𝛾</m:t>
                                              </m:r>
                                            </m:e>
                                          </m:func>
                                        </m:e>
                                      </m:func>
                                    </m:e>
                                  </m:func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05" name="TextBox 2104">
                <a:extLst>
                  <a:ext uri="{FF2B5EF4-FFF2-40B4-BE49-F238E27FC236}">
                    <a16:creationId xmlns:a16="http://schemas.microsoft.com/office/drawing/2014/main" id="{C06D00B2-8397-76BE-E676-0E093B679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75930"/>
                <a:ext cx="8647817" cy="1760738"/>
              </a:xfrm>
              <a:prstGeom prst="rect">
                <a:avLst/>
              </a:prstGeom>
              <a:blipFill>
                <a:blip r:embed="rId3"/>
                <a:stretch>
                  <a:fillRect l="-16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6" name="TextBox 2105">
                <a:extLst>
                  <a:ext uri="{FF2B5EF4-FFF2-40B4-BE49-F238E27FC236}">
                    <a16:creationId xmlns:a16="http://schemas.microsoft.com/office/drawing/2014/main" id="{7FB9CA90-81B1-32EF-8008-A389FBA2F0AF}"/>
                  </a:ext>
                </a:extLst>
              </p:cNvPr>
              <p:cNvSpPr txBox="1"/>
              <p:nvPr/>
            </p:nvSpPr>
            <p:spPr>
              <a:xfrm>
                <a:off x="4080934" y="4077115"/>
                <a:ext cx="4876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𝑦𝑎𝑤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106" name="TextBox 2105">
                <a:extLst>
                  <a:ext uri="{FF2B5EF4-FFF2-40B4-BE49-F238E27FC236}">
                    <a16:creationId xmlns:a16="http://schemas.microsoft.com/office/drawing/2014/main" id="{7FB9CA90-81B1-32EF-8008-A389FBA2F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934" y="4077115"/>
                <a:ext cx="487634" cy="276999"/>
              </a:xfrm>
              <a:prstGeom prst="rect">
                <a:avLst/>
              </a:prstGeom>
              <a:blipFill>
                <a:blip r:embed="rId4"/>
                <a:stretch>
                  <a:fillRect l="-11250" r="-11250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7" name="TextBox 2106">
                <a:extLst>
                  <a:ext uri="{FF2B5EF4-FFF2-40B4-BE49-F238E27FC236}">
                    <a16:creationId xmlns:a16="http://schemas.microsoft.com/office/drawing/2014/main" id="{7304C155-99C9-D2F9-0080-FB814FE1F820}"/>
                  </a:ext>
                </a:extLst>
              </p:cNvPr>
              <p:cNvSpPr txBox="1"/>
              <p:nvPr/>
            </p:nvSpPr>
            <p:spPr>
              <a:xfrm>
                <a:off x="6096000" y="4077114"/>
                <a:ext cx="584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𝑝𝑖𝑡𝑐h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107" name="TextBox 2106">
                <a:extLst>
                  <a:ext uri="{FF2B5EF4-FFF2-40B4-BE49-F238E27FC236}">
                    <a16:creationId xmlns:a16="http://schemas.microsoft.com/office/drawing/2014/main" id="{7304C155-99C9-D2F9-0080-FB814FE1F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077114"/>
                <a:ext cx="584263" cy="276999"/>
              </a:xfrm>
              <a:prstGeom prst="rect">
                <a:avLst/>
              </a:prstGeom>
              <a:blipFill>
                <a:blip r:embed="rId5"/>
                <a:stretch>
                  <a:fillRect l="-13542" t="-2222" r="-13542" b="-3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8" name="TextBox 2107">
                <a:extLst>
                  <a:ext uri="{FF2B5EF4-FFF2-40B4-BE49-F238E27FC236}">
                    <a16:creationId xmlns:a16="http://schemas.microsoft.com/office/drawing/2014/main" id="{CB4ACA5A-DCFC-7ABD-D8C0-A81150030CE8}"/>
                  </a:ext>
                </a:extLst>
              </p:cNvPr>
              <p:cNvSpPr txBox="1"/>
              <p:nvPr/>
            </p:nvSpPr>
            <p:spPr>
              <a:xfrm>
                <a:off x="7886347" y="4077113"/>
                <a:ext cx="4369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𝑟𝑜𝑙𝑙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108" name="TextBox 2107">
                <a:extLst>
                  <a:ext uri="{FF2B5EF4-FFF2-40B4-BE49-F238E27FC236}">
                    <a16:creationId xmlns:a16="http://schemas.microsoft.com/office/drawing/2014/main" id="{CB4ACA5A-DCFC-7ABD-D8C0-A81150030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6347" y="4077113"/>
                <a:ext cx="436914" cy="276999"/>
              </a:xfrm>
              <a:prstGeom prst="rect">
                <a:avLst/>
              </a:prstGeom>
              <a:blipFill>
                <a:blip r:embed="rId6"/>
                <a:stretch>
                  <a:fillRect l="-12676" r="-14085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 descr="Изображение выглядит как аксессуа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08BA10A-7295-0AA6-C24F-1364034DE1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520" y="2944626"/>
            <a:ext cx="1605280" cy="1605280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063C02D-096D-9098-CA04-A55E20998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696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87A7F-A780-926D-1854-F0034F939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857BF-C9C8-730B-ED57-BAA5A3E3C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SE(3). Из мира в камеру и наоборот.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B554C6-B53C-7286-AB24-D5F38280713C}"/>
              </a:ext>
            </a:extLst>
          </p:cNvPr>
          <p:cNvSpPr txBox="1"/>
          <p:nvPr/>
        </p:nvSpPr>
        <p:spPr>
          <a:xfrm>
            <a:off x="3321756" y="5899071"/>
            <a:ext cx="658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Ортогональность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– свойство матриц вращения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5F73DA-84AB-06F8-B0AB-496CE93428FE}"/>
                  </a:ext>
                </a:extLst>
              </p:cNvPr>
              <p:cNvSpPr txBox="1"/>
              <p:nvPr/>
            </p:nvSpPr>
            <p:spPr>
              <a:xfrm>
                <a:off x="838200" y="2159753"/>
                <a:ext cx="32822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𝑤𝑜𝑟𝑙𝑑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𝑤𝑜𝑟𝑙𝑑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𝑐𝑎𝑚𝑒𝑟𝑎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𝑐𝑎𝑚𝑒𝑟𝑎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5F73DA-84AB-06F8-B0AB-496CE9342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59753"/>
                <a:ext cx="3282245" cy="276999"/>
              </a:xfrm>
              <a:prstGeom prst="rect">
                <a:avLst/>
              </a:prstGeom>
              <a:blipFill>
                <a:blip r:embed="rId3"/>
                <a:stretch>
                  <a:fillRect l="-1301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283AEB-06A6-4DC7-C998-A9B63F882F6F}"/>
                  </a:ext>
                </a:extLst>
              </p:cNvPr>
              <p:cNvSpPr txBox="1"/>
              <p:nvPr/>
            </p:nvSpPr>
            <p:spPr>
              <a:xfrm>
                <a:off x="838200" y="2676609"/>
                <a:ext cx="32774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𝑐𝑎𝑚𝑒𝑟𝑎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𝑐𝑎𝑚𝑒𝑟𝑎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𝑤𝑜𝑟𝑙𝑑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𝑤𝑜𝑟𝑙𝑑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283AEB-06A6-4DC7-C998-A9B63F882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76609"/>
                <a:ext cx="3277436" cy="276999"/>
              </a:xfrm>
              <a:prstGeom prst="rect">
                <a:avLst/>
              </a:prstGeom>
              <a:blipFill>
                <a:blip r:embed="rId4"/>
                <a:stretch>
                  <a:fillRect l="-1304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E1A761-0BE2-2AD0-B058-25AF29A51EB9}"/>
                  </a:ext>
                </a:extLst>
              </p:cNvPr>
              <p:cNvSpPr txBox="1"/>
              <p:nvPr/>
            </p:nvSpPr>
            <p:spPr>
              <a:xfrm>
                <a:off x="838200" y="3193465"/>
                <a:ext cx="35405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𝑤𝑜𝑟𝑙𝑑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𝑐𝑎𝑚𝑒𝑟𝑎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𝑐𝑎𝑚𝑒𝑟𝑎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𝑤𝑜𝑟𝑙𝑑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E1A761-0BE2-2AD0-B058-25AF29A51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93465"/>
                <a:ext cx="3540521" cy="276999"/>
              </a:xfrm>
              <a:prstGeom prst="rect">
                <a:avLst/>
              </a:prstGeom>
              <a:blipFill>
                <a:blip r:embed="rId5"/>
                <a:stretch>
                  <a:fillRect l="-1207" t="-2222" r="-172" b="-3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C2D5CF-77BA-6BBC-14DA-412B41EC4854}"/>
                  </a:ext>
                </a:extLst>
              </p:cNvPr>
              <p:cNvSpPr txBox="1"/>
              <p:nvPr/>
            </p:nvSpPr>
            <p:spPr>
              <a:xfrm>
                <a:off x="838200" y="3710321"/>
                <a:ext cx="2898614" cy="4673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𝑐𝑎𝑚𝑒𝑟𝑎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𝑤𝑜𝑟𝑙𝑑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𝑐𝑤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𝑐𝑤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C2D5CF-77BA-6BBC-14DA-412B41EC4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710321"/>
                <a:ext cx="2898614" cy="4673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B9AC19-2BC6-A219-16E2-B52D341E1A29}"/>
                  </a:ext>
                </a:extLst>
              </p:cNvPr>
              <p:cNvSpPr txBox="1"/>
              <p:nvPr/>
            </p:nvSpPr>
            <p:spPr>
              <a:xfrm>
                <a:off x="838200" y="4417484"/>
                <a:ext cx="3622017" cy="5046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𝑤𝑜𝑟𝑙𝑑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𝑐𝑎𝑚𝑒𝑟𝑎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𝑐𝑤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𝑐𝑤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𝑐𝑤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B9AC19-2BC6-A219-16E2-B52D341E1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17484"/>
                <a:ext cx="3622017" cy="5046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FFF739-4190-7718-31CE-FF2BD0A333C0}"/>
                  </a:ext>
                </a:extLst>
              </p:cNvPr>
              <p:cNvSpPr txBox="1"/>
              <p:nvPr/>
            </p:nvSpPr>
            <p:spPr>
              <a:xfrm>
                <a:off x="838200" y="5945238"/>
                <a:ext cx="21633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FFF739-4190-7718-31CE-FF2BD0A33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945238"/>
                <a:ext cx="2163349" cy="276999"/>
              </a:xfrm>
              <a:prstGeom prst="rect">
                <a:avLst/>
              </a:prstGeom>
              <a:blipFill>
                <a:blip r:embed="rId8"/>
                <a:stretch>
                  <a:fillRect l="-2260" r="-565" b="-6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F2B66B82-1D8B-B2DF-3AB1-35420EFF1169}"/>
              </a:ext>
            </a:extLst>
          </p:cNvPr>
          <p:cNvCxnSpPr>
            <a:cxnSpLocks/>
          </p:cNvCxnSpPr>
          <p:nvPr/>
        </p:nvCxnSpPr>
        <p:spPr>
          <a:xfrm flipV="1">
            <a:off x="7498788" y="2704481"/>
            <a:ext cx="0" cy="99568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8730474C-F69F-0897-4A45-3A97B2ABCE50}"/>
              </a:ext>
            </a:extLst>
          </p:cNvPr>
          <p:cNvCxnSpPr>
            <a:cxnSpLocks/>
          </p:cNvCxnSpPr>
          <p:nvPr/>
        </p:nvCxnSpPr>
        <p:spPr>
          <a:xfrm flipH="1">
            <a:off x="6787588" y="3700161"/>
            <a:ext cx="711200" cy="740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1A4207FD-F6DD-97AF-F69A-6F2A3AAD7914}"/>
              </a:ext>
            </a:extLst>
          </p:cNvPr>
          <p:cNvCxnSpPr/>
          <p:nvPr/>
        </p:nvCxnSpPr>
        <p:spPr>
          <a:xfrm>
            <a:off x="7498788" y="3700161"/>
            <a:ext cx="762000" cy="631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572FA40A-0A7D-BFA4-D9FC-F2786B90FE56}"/>
              </a:ext>
            </a:extLst>
          </p:cNvPr>
          <p:cNvCxnSpPr>
            <a:cxnSpLocks/>
          </p:cNvCxnSpPr>
          <p:nvPr/>
        </p:nvCxnSpPr>
        <p:spPr>
          <a:xfrm flipV="1">
            <a:off x="8651948" y="2356626"/>
            <a:ext cx="289560" cy="877479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22846F7-23C3-7872-C484-71F1A775AC04}"/>
              </a:ext>
            </a:extLst>
          </p:cNvPr>
          <p:cNvCxnSpPr>
            <a:cxnSpLocks/>
          </p:cNvCxnSpPr>
          <p:nvPr/>
        </p:nvCxnSpPr>
        <p:spPr>
          <a:xfrm flipH="1">
            <a:off x="7864548" y="3234105"/>
            <a:ext cx="787400" cy="332347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909276D7-7BB6-9AD5-40DA-22C41DBFBE8F}"/>
              </a:ext>
            </a:extLst>
          </p:cNvPr>
          <p:cNvCxnSpPr>
            <a:cxnSpLocks/>
          </p:cNvCxnSpPr>
          <p:nvPr/>
        </p:nvCxnSpPr>
        <p:spPr>
          <a:xfrm>
            <a:off x="8651948" y="3234105"/>
            <a:ext cx="762000" cy="631788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Блок-схема: узел 28">
            <a:extLst>
              <a:ext uri="{FF2B5EF4-FFF2-40B4-BE49-F238E27FC236}">
                <a16:creationId xmlns:a16="http://schemas.microsoft.com/office/drawing/2014/main" id="{4B397C27-2488-EDA7-7638-04137B887A0A}"/>
              </a:ext>
            </a:extLst>
          </p:cNvPr>
          <p:cNvSpPr/>
          <p:nvPr/>
        </p:nvSpPr>
        <p:spPr>
          <a:xfrm>
            <a:off x="9175188" y="4617179"/>
            <a:ext cx="108000" cy="10900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олилиния: фигура 35">
            <a:extLst>
              <a:ext uri="{FF2B5EF4-FFF2-40B4-BE49-F238E27FC236}">
                <a16:creationId xmlns:a16="http://schemas.microsoft.com/office/drawing/2014/main" id="{DEDB245D-1826-FA04-DB38-190DD4E8E6B8}"/>
              </a:ext>
            </a:extLst>
          </p:cNvPr>
          <p:cNvSpPr/>
          <p:nvPr/>
        </p:nvSpPr>
        <p:spPr>
          <a:xfrm>
            <a:off x="7498788" y="3227587"/>
            <a:ext cx="1145537" cy="482734"/>
          </a:xfrm>
          <a:custGeom>
            <a:avLst/>
            <a:gdLst>
              <a:gd name="connsiteX0" fmla="*/ 0 w 1168400"/>
              <a:gd name="connsiteY0" fmla="*/ 482734 h 482734"/>
              <a:gd name="connsiteX1" fmla="*/ 294640 w 1168400"/>
              <a:gd name="connsiteY1" fmla="*/ 45854 h 482734"/>
              <a:gd name="connsiteX2" fmla="*/ 1168400 w 1168400"/>
              <a:gd name="connsiteY2" fmla="*/ 5214 h 48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8400" h="482734">
                <a:moveTo>
                  <a:pt x="0" y="482734"/>
                </a:moveTo>
                <a:cubicBezTo>
                  <a:pt x="49953" y="304087"/>
                  <a:pt x="99907" y="125441"/>
                  <a:pt x="294640" y="45854"/>
                </a:cubicBezTo>
                <a:cubicBezTo>
                  <a:pt x="489373" y="-33733"/>
                  <a:pt x="1029547" y="17067"/>
                  <a:pt x="1168400" y="5214"/>
                </a:cubicBezTo>
              </a:path>
            </a:pathLst>
          </a:custGeom>
          <a:noFill/>
          <a:ln w="6350"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олилиния: фигура 36">
            <a:extLst>
              <a:ext uri="{FF2B5EF4-FFF2-40B4-BE49-F238E27FC236}">
                <a16:creationId xmlns:a16="http://schemas.microsoft.com/office/drawing/2014/main" id="{1A5CBD62-B596-B9D5-615C-3A8FF5749F1E}"/>
              </a:ext>
            </a:extLst>
          </p:cNvPr>
          <p:cNvSpPr/>
          <p:nvPr/>
        </p:nvSpPr>
        <p:spPr>
          <a:xfrm>
            <a:off x="7493708" y="3240421"/>
            <a:ext cx="1150620" cy="471234"/>
          </a:xfrm>
          <a:custGeom>
            <a:avLst/>
            <a:gdLst>
              <a:gd name="connsiteX0" fmla="*/ 1150620 w 1150620"/>
              <a:gd name="connsiteY0" fmla="*/ 0 h 471234"/>
              <a:gd name="connsiteX1" fmla="*/ 792480 w 1150620"/>
              <a:gd name="connsiteY1" fmla="*/ 426720 h 471234"/>
              <a:gd name="connsiteX2" fmla="*/ 0 w 1150620"/>
              <a:gd name="connsiteY2" fmla="*/ 457200 h 471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0620" h="471234">
                <a:moveTo>
                  <a:pt x="1150620" y="0"/>
                </a:moveTo>
                <a:cubicBezTo>
                  <a:pt x="1067435" y="175260"/>
                  <a:pt x="984250" y="350520"/>
                  <a:pt x="792480" y="426720"/>
                </a:cubicBezTo>
                <a:cubicBezTo>
                  <a:pt x="600710" y="502920"/>
                  <a:pt x="110490" y="458470"/>
                  <a:pt x="0" y="457200"/>
                </a:cubicBezTo>
              </a:path>
            </a:pathLst>
          </a:custGeom>
          <a:noFill/>
          <a:ln w="6350"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олилиния: фигура 37">
            <a:extLst>
              <a:ext uri="{FF2B5EF4-FFF2-40B4-BE49-F238E27FC236}">
                <a16:creationId xmlns:a16="http://schemas.microsoft.com/office/drawing/2014/main" id="{EAFF30A5-104C-624C-A62A-4DAA25707736}"/>
              </a:ext>
            </a:extLst>
          </p:cNvPr>
          <p:cNvSpPr/>
          <p:nvPr/>
        </p:nvSpPr>
        <p:spPr>
          <a:xfrm>
            <a:off x="7430843" y="3697621"/>
            <a:ext cx="1744346" cy="975360"/>
          </a:xfrm>
          <a:custGeom>
            <a:avLst/>
            <a:gdLst>
              <a:gd name="connsiteX0" fmla="*/ 69560 w 1806920"/>
              <a:gd name="connsiteY0" fmla="*/ 0 h 975360"/>
              <a:gd name="connsiteX1" fmla="*/ 206720 w 1806920"/>
              <a:gd name="connsiteY1" fmla="*/ 693420 h 975360"/>
              <a:gd name="connsiteX2" fmla="*/ 1806920 w 1806920"/>
              <a:gd name="connsiteY2" fmla="*/ 975360 h 97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6920" h="975360">
                <a:moveTo>
                  <a:pt x="69560" y="0"/>
                </a:moveTo>
                <a:cubicBezTo>
                  <a:pt x="-6640" y="265430"/>
                  <a:pt x="-82840" y="530860"/>
                  <a:pt x="206720" y="693420"/>
                </a:cubicBezTo>
                <a:cubicBezTo>
                  <a:pt x="496280" y="855980"/>
                  <a:pt x="1555460" y="935990"/>
                  <a:pt x="1806920" y="975360"/>
                </a:cubicBezTo>
              </a:path>
            </a:pathLst>
          </a:custGeom>
          <a:noFill/>
          <a:ln w="6350"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олилиния: фигура 38">
            <a:extLst>
              <a:ext uri="{FF2B5EF4-FFF2-40B4-BE49-F238E27FC236}">
                <a16:creationId xmlns:a16="http://schemas.microsoft.com/office/drawing/2014/main" id="{1498011B-3BA1-BD0F-0DEE-08062E452214}"/>
              </a:ext>
            </a:extLst>
          </p:cNvPr>
          <p:cNvSpPr/>
          <p:nvPr/>
        </p:nvSpPr>
        <p:spPr>
          <a:xfrm>
            <a:off x="8644328" y="3232801"/>
            <a:ext cx="671987" cy="1383882"/>
          </a:xfrm>
          <a:custGeom>
            <a:avLst/>
            <a:gdLst>
              <a:gd name="connsiteX0" fmla="*/ 0 w 671987"/>
              <a:gd name="connsiteY0" fmla="*/ 0 h 1440180"/>
              <a:gd name="connsiteX1" fmla="*/ 640080 w 671987"/>
              <a:gd name="connsiteY1" fmla="*/ 777240 h 1440180"/>
              <a:gd name="connsiteX2" fmla="*/ 594360 w 671987"/>
              <a:gd name="connsiteY2" fmla="*/ 1440180 h 1440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1987" h="1440180">
                <a:moveTo>
                  <a:pt x="0" y="0"/>
                </a:moveTo>
                <a:cubicBezTo>
                  <a:pt x="270510" y="268605"/>
                  <a:pt x="541020" y="537210"/>
                  <a:pt x="640080" y="777240"/>
                </a:cubicBezTo>
                <a:cubicBezTo>
                  <a:pt x="739140" y="1017270"/>
                  <a:pt x="574040" y="1351280"/>
                  <a:pt x="594360" y="1440180"/>
                </a:cubicBezTo>
              </a:path>
            </a:pathLst>
          </a:custGeom>
          <a:noFill/>
          <a:ln w="6350"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FFDB68-28C4-D9FC-0CB7-438E4D571065}"/>
              </a:ext>
            </a:extLst>
          </p:cNvPr>
          <p:cNvSpPr txBox="1"/>
          <p:nvPr/>
        </p:nvSpPr>
        <p:spPr>
          <a:xfrm>
            <a:off x="7654918" y="2963422"/>
            <a:ext cx="449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Tcw</a:t>
            </a:r>
            <a:endParaRPr lang="ru-RU" sz="12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EF4DE8-44F1-B84F-EB5C-25DF65EEABDA}"/>
              </a:ext>
            </a:extLst>
          </p:cNvPr>
          <p:cNvSpPr txBox="1"/>
          <p:nvPr/>
        </p:nvSpPr>
        <p:spPr>
          <a:xfrm>
            <a:off x="6990175" y="3513174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world</a:t>
            </a:r>
            <a:endParaRPr lang="ru-RU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74535A-D8BE-8205-594E-DFE7CAC80678}"/>
              </a:ext>
            </a:extLst>
          </p:cNvPr>
          <p:cNvSpPr txBox="1"/>
          <p:nvPr/>
        </p:nvSpPr>
        <p:spPr>
          <a:xfrm>
            <a:off x="8645240" y="3050915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camera</a:t>
            </a:r>
            <a:endParaRPr lang="ru-RU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2C0E22-1351-19CE-2107-7F38CE6BCDAC}"/>
              </a:ext>
            </a:extLst>
          </p:cNvPr>
          <p:cNvSpPr txBox="1"/>
          <p:nvPr/>
        </p:nvSpPr>
        <p:spPr>
          <a:xfrm>
            <a:off x="9229188" y="4632063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EE13D8-33CB-0038-1F10-86B20766D37C}"/>
              </a:ext>
            </a:extLst>
          </p:cNvPr>
          <p:cNvSpPr txBox="1"/>
          <p:nvPr/>
        </p:nvSpPr>
        <p:spPr>
          <a:xfrm>
            <a:off x="7764134" y="4499523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Pw</a:t>
            </a:r>
            <a:endParaRPr lang="ru-RU" sz="12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6FB9F0-2A13-F1C6-EE8C-5AB71DDBDB5B}"/>
              </a:ext>
            </a:extLst>
          </p:cNvPr>
          <p:cNvSpPr txBox="1"/>
          <p:nvPr/>
        </p:nvSpPr>
        <p:spPr>
          <a:xfrm>
            <a:off x="9360629" y="3965157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</a:t>
            </a:r>
            <a:endParaRPr lang="ru-RU" sz="12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8C7A23-4B4D-39A1-CAA4-5D25F1D21F7D}"/>
              </a:ext>
            </a:extLst>
          </p:cNvPr>
          <p:cNvSpPr txBox="1"/>
          <p:nvPr/>
        </p:nvSpPr>
        <p:spPr>
          <a:xfrm>
            <a:off x="8199155" y="3667077"/>
            <a:ext cx="458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Twc</a:t>
            </a:r>
            <a:endParaRPr lang="ru-RU" sz="12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EA6B30E0-DF79-0660-CDAE-25AD8302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644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62188-B6B2-2056-18D6-559514106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AB325D-C61F-4747-0C35-E4B17D4C2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SE(3). Основные операции.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B4E49F-1D83-0BE3-2E88-D683E8DB8BBD}"/>
                  </a:ext>
                </a:extLst>
              </p:cNvPr>
              <p:cNvSpPr txBox="1"/>
              <p:nvPr/>
            </p:nvSpPr>
            <p:spPr>
              <a:xfrm>
                <a:off x="3270355" y="5518108"/>
                <a:ext cx="56512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𝑐𝑎𝑚𝑒𝑟𝑎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𝑐𝑎𝑚𝑒𝑟𝑎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𝑐𝑎𝑚𝑒𝑟𝑎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𝑐𝑎𝑚𝑒𝑟𝑎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𝑐𝑎𝑚𝑒𝑟𝑎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𝑐𝑎𝑚𝑒𝑟𝑎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B4E49F-1D83-0BE3-2E88-D683E8DB8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355" y="5518108"/>
                <a:ext cx="5651291" cy="276999"/>
              </a:xfrm>
              <a:prstGeom prst="rect">
                <a:avLst/>
              </a:prstGeom>
              <a:blipFill>
                <a:blip r:embed="rId2"/>
                <a:stretch>
                  <a:fillRect l="-431" b="-13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6438FF7C-A2B2-F883-1FB7-EE74D98A57AE}"/>
              </a:ext>
            </a:extLst>
          </p:cNvPr>
          <p:cNvCxnSpPr>
            <a:cxnSpLocks/>
          </p:cNvCxnSpPr>
          <p:nvPr/>
        </p:nvCxnSpPr>
        <p:spPr>
          <a:xfrm flipV="1">
            <a:off x="3114225" y="2219059"/>
            <a:ext cx="0" cy="99568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516BF3EA-399D-2D45-80E0-ADC2945E73C6}"/>
              </a:ext>
            </a:extLst>
          </p:cNvPr>
          <p:cNvCxnSpPr>
            <a:cxnSpLocks/>
          </p:cNvCxnSpPr>
          <p:nvPr/>
        </p:nvCxnSpPr>
        <p:spPr>
          <a:xfrm flipH="1">
            <a:off x="2403025" y="3214739"/>
            <a:ext cx="711200" cy="740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11C0D412-B64E-D362-4202-5E5E1393C811}"/>
              </a:ext>
            </a:extLst>
          </p:cNvPr>
          <p:cNvCxnSpPr/>
          <p:nvPr/>
        </p:nvCxnSpPr>
        <p:spPr>
          <a:xfrm>
            <a:off x="3114225" y="3214739"/>
            <a:ext cx="762000" cy="631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B40AA65B-9CC2-61DF-CA2D-D73B50FD8EB3}"/>
              </a:ext>
            </a:extLst>
          </p:cNvPr>
          <p:cNvCxnSpPr>
            <a:cxnSpLocks/>
          </p:cNvCxnSpPr>
          <p:nvPr/>
        </p:nvCxnSpPr>
        <p:spPr>
          <a:xfrm flipV="1">
            <a:off x="6192576" y="2403257"/>
            <a:ext cx="289560" cy="87747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35C5AD92-B37B-F20E-4558-A896C47A7604}"/>
              </a:ext>
            </a:extLst>
          </p:cNvPr>
          <p:cNvCxnSpPr>
            <a:cxnSpLocks/>
          </p:cNvCxnSpPr>
          <p:nvPr/>
        </p:nvCxnSpPr>
        <p:spPr>
          <a:xfrm flipH="1">
            <a:off x="5405176" y="3280736"/>
            <a:ext cx="787400" cy="332347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14401568-F7A6-7FF0-477B-58A3880A8042}"/>
              </a:ext>
            </a:extLst>
          </p:cNvPr>
          <p:cNvCxnSpPr>
            <a:cxnSpLocks/>
          </p:cNvCxnSpPr>
          <p:nvPr/>
        </p:nvCxnSpPr>
        <p:spPr>
          <a:xfrm>
            <a:off x="6192576" y="3280736"/>
            <a:ext cx="437037" cy="788098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73AA1EF-021E-95F9-CE7E-5B540CD53A8D}"/>
              </a:ext>
            </a:extLst>
          </p:cNvPr>
          <p:cNvSpPr txBox="1"/>
          <p:nvPr/>
        </p:nvSpPr>
        <p:spPr>
          <a:xfrm>
            <a:off x="2330357" y="3003737"/>
            <a:ext cx="824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camera 1</a:t>
            </a:r>
            <a:endParaRPr lang="ru-RU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F4E1A7-AFDB-ABEF-E1BC-D3F04E13F736}"/>
              </a:ext>
            </a:extLst>
          </p:cNvPr>
          <p:cNvSpPr txBox="1"/>
          <p:nvPr/>
        </p:nvSpPr>
        <p:spPr>
          <a:xfrm>
            <a:off x="5449105" y="2950440"/>
            <a:ext cx="824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camera 2</a:t>
            </a:r>
            <a:endParaRPr lang="ru-RU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9D1726-166F-0032-52DF-111152DC57EA}"/>
              </a:ext>
            </a:extLst>
          </p:cNvPr>
          <p:cNvSpPr txBox="1"/>
          <p:nvPr/>
        </p:nvSpPr>
        <p:spPr>
          <a:xfrm>
            <a:off x="4226739" y="3513792"/>
            <a:ext cx="728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c1_c2</a:t>
            </a:r>
            <a:endParaRPr lang="ru-RU" sz="12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B5D395E2-EFBF-2660-83EF-F24D3D6D9498}"/>
              </a:ext>
            </a:extLst>
          </p:cNvPr>
          <p:cNvCxnSpPr>
            <a:cxnSpLocks/>
          </p:cNvCxnSpPr>
          <p:nvPr/>
        </p:nvCxnSpPr>
        <p:spPr>
          <a:xfrm flipV="1">
            <a:off x="9096192" y="2506119"/>
            <a:ext cx="543615" cy="89226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B320269E-BF29-CB22-E9BF-6D2AC3F4DF16}"/>
              </a:ext>
            </a:extLst>
          </p:cNvPr>
          <p:cNvCxnSpPr>
            <a:cxnSpLocks/>
          </p:cNvCxnSpPr>
          <p:nvPr/>
        </p:nvCxnSpPr>
        <p:spPr>
          <a:xfrm flipH="1">
            <a:off x="8354644" y="3398379"/>
            <a:ext cx="741548" cy="68006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6E623460-B708-9DA7-B5FC-582D04B20189}"/>
              </a:ext>
            </a:extLst>
          </p:cNvPr>
          <p:cNvCxnSpPr>
            <a:cxnSpLocks/>
          </p:cNvCxnSpPr>
          <p:nvPr/>
        </p:nvCxnSpPr>
        <p:spPr>
          <a:xfrm>
            <a:off x="9096192" y="3398379"/>
            <a:ext cx="853441" cy="38723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3E4505C-F411-B899-34F5-6BD869C15439}"/>
              </a:ext>
            </a:extLst>
          </p:cNvPr>
          <p:cNvSpPr txBox="1"/>
          <p:nvPr/>
        </p:nvSpPr>
        <p:spPr>
          <a:xfrm>
            <a:off x="8271447" y="3102477"/>
            <a:ext cx="824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camera 3</a:t>
            </a:r>
            <a:endParaRPr lang="ru-RU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AFC460-458A-A7C9-F904-24CD0E82FC49}"/>
              </a:ext>
            </a:extLst>
          </p:cNvPr>
          <p:cNvSpPr txBox="1"/>
          <p:nvPr/>
        </p:nvSpPr>
        <p:spPr>
          <a:xfrm>
            <a:off x="7081536" y="3738466"/>
            <a:ext cx="728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c2_c3</a:t>
            </a:r>
            <a:endParaRPr lang="ru-RU" sz="12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Полилиния: фигура 36">
            <a:extLst>
              <a:ext uri="{FF2B5EF4-FFF2-40B4-BE49-F238E27FC236}">
                <a16:creationId xmlns:a16="http://schemas.microsoft.com/office/drawing/2014/main" id="{AA98BF44-6851-1888-567B-6C17F5E1F44E}"/>
              </a:ext>
            </a:extLst>
          </p:cNvPr>
          <p:cNvSpPr/>
          <p:nvPr/>
        </p:nvSpPr>
        <p:spPr>
          <a:xfrm>
            <a:off x="3115056" y="3212592"/>
            <a:ext cx="3084576" cy="262743"/>
          </a:xfrm>
          <a:custGeom>
            <a:avLst/>
            <a:gdLst>
              <a:gd name="connsiteX0" fmla="*/ 0 w 3084576"/>
              <a:gd name="connsiteY0" fmla="*/ 0 h 262743"/>
              <a:gd name="connsiteX1" fmla="*/ 1060704 w 3084576"/>
              <a:gd name="connsiteY1" fmla="*/ 262128 h 262743"/>
              <a:gd name="connsiteX2" fmla="*/ 3084576 w 3084576"/>
              <a:gd name="connsiteY2" fmla="*/ 73152 h 2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4576" h="262743">
                <a:moveTo>
                  <a:pt x="0" y="0"/>
                </a:moveTo>
                <a:cubicBezTo>
                  <a:pt x="273304" y="124968"/>
                  <a:pt x="546608" y="249936"/>
                  <a:pt x="1060704" y="262128"/>
                </a:cubicBezTo>
                <a:cubicBezTo>
                  <a:pt x="1574800" y="274320"/>
                  <a:pt x="2752344" y="101600"/>
                  <a:pt x="3084576" y="73152"/>
                </a:cubicBezTo>
              </a:path>
            </a:pathLst>
          </a:custGeom>
          <a:noFill/>
          <a:ln w="6350"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олилиния: фигура 37">
            <a:extLst>
              <a:ext uri="{FF2B5EF4-FFF2-40B4-BE49-F238E27FC236}">
                <a16:creationId xmlns:a16="http://schemas.microsoft.com/office/drawing/2014/main" id="{11820E12-93DB-B9B0-F572-35E04BB6A61A}"/>
              </a:ext>
            </a:extLst>
          </p:cNvPr>
          <p:cNvSpPr/>
          <p:nvPr/>
        </p:nvSpPr>
        <p:spPr>
          <a:xfrm>
            <a:off x="6193536" y="3285744"/>
            <a:ext cx="2901696" cy="433819"/>
          </a:xfrm>
          <a:custGeom>
            <a:avLst/>
            <a:gdLst>
              <a:gd name="connsiteX0" fmla="*/ 0 w 2901696"/>
              <a:gd name="connsiteY0" fmla="*/ 0 h 433819"/>
              <a:gd name="connsiteX1" fmla="*/ 1127760 w 2901696"/>
              <a:gd name="connsiteY1" fmla="*/ 432816 h 433819"/>
              <a:gd name="connsiteX2" fmla="*/ 2901696 w 2901696"/>
              <a:gd name="connsiteY2" fmla="*/ 121920 h 433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01696" h="433819">
                <a:moveTo>
                  <a:pt x="0" y="0"/>
                </a:moveTo>
                <a:cubicBezTo>
                  <a:pt x="322072" y="206248"/>
                  <a:pt x="644144" y="412496"/>
                  <a:pt x="1127760" y="432816"/>
                </a:cubicBezTo>
                <a:cubicBezTo>
                  <a:pt x="1611376" y="453136"/>
                  <a:pt x="2628392" y="158496"/>
                  <a:pt x="2901696" y="121920"/>
                </a:cubicBezTo>
              </a:path>
            </a:pathLst>
          </a:custGeom>
          <a:noFill/>
          <a:ln w="6350"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олилиния: фигура 39">
            <a:extLst>
              <a:ext uri="{FF2B5EF4-FFF2-40B4-BE49-F238E27FC236}">
                <a16:creationId xmlns:a16="http://schemas.microsoft.com/office/drawing/2014/main" id="{1F899DDC-E7F7-C751-58F5-3079F1BD8A0E}"/>
              </a:ext>
            </a:extLst>
          </p:cNvPr>
          <p:cNvSpPr/>
          <p:nvPr/>
        </p:nvSpPr>
        <p:spPr>
          <a:xfrm>
            <a:off x="3115056" y="3218688"/>
            <a:ext cx="5986272" cy="1912939"/>
          </a:xfrm>
          <a:custGeom>
            <a:avLst/>
            <a:gdLst>
              <a:gd name="connsiteX0" fmla="*/ 0 w 5986272"/>
              <a:gd name="connsiteY0" fmla="*/ 0 h 1912939"/>
              <a:gd name="connsiteX1" fmla="*/ 573024 w 5986272"/>
              <a:gd name="connsiteY1" fmla="*/ 981456 h 1912939"/>
              <a:gd name="connsiteX2" fmla="*/ 2895600 w 5986272"/>
              <a:gd name="connsiteY2" fmla="*/ 1889760 h 1912939"/>
              <a:gd name="connsiteX3" fmla="*/ 5334000 w 5986272"/>
              <a:gd name="connsiteY3" fmla="*/ 1517904 h 1912939"/>
              <a:gd name="connsiteX4" fmla="*/ 5986272 w 5986272"/>
              <a:gd name="connsiteY4" fmla="*/ 195072 h 191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86272" h="1912939">
                <a:moveTo>
                  <a:pt x="0" y="0"/>
                </a:moveTo>
                <a:cubicBezTo>
                  <a:pt x="45212" y="333248"/>
                  <a:pt x="90424" y="666496"/>
                  <a:pt x="573024" y="981456"/>
                </a:cubicBezTo>
                <a:cubicBezTo>
                  <a:pt x="1055624" y="1296416"/>
                  <a:pt x="2102104" y="1800352"/>
                  <a:pt x="2895600" y="1889760"/>
                </a:cubicBezTo>
                <a:cubicBezTo>
                  <a:pt x="3689096" y="1979168"/>
                  <a:pt x="4818888" y="1800352"/>
                  <a:pt x="5334000" y="1517904"/>
                </a:cubicBezTo>
                <a:cubicBezTo>
                  <a:pt x="5849112" y="1235456"/>
                  <a:pt x="5872480" y="391160"/>
                  <a:pt x="5986272" y="195072"/>
                </a:cubicBezTo>
              </a:path>
            </a:pathLst>
          </a:custGeom>
          <a:noFill/>
          <a:ln w="6350"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5DD17F-3248-6CC3-527C-F4DCAD7CAEB5}"/>
              </a:ext>
            </a:extLst>
          </p:cNvPr>
          <p:cNvSpPr txBox="1"/>
          <p:nvPr/>
        </p:nvSpPr>
        <p:spPr>
          <a:xfrm>
            <a:off x="6046827" y="5131627"/>
            <a:ext cx="728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c1_c3</a:t>
            </a:r>
            <a:endParaRPr lang="ru-RU" sz="12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3980075-4C01-3FFB-8D76-4128FF75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686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Формулировка проблемы</a:t>
            </a:r>
          </a:p>
        </p:txBody>
      </p:sp>
      <p:pic>
        <p:nvPicPr>
          <p:cNvPr id="3" name="Picture 2951">
            <a:extLst>
              <a:ext uri="{FF2B5EF4-FFF2-40B4-BE49-F238E27FC236}">
                <a16:creationId xmlns:a16="http://schemas.microsoft.com/office/drawing/2014/main" id="{6AE15900-86CA-CA0C-03F4-1391F85FC1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5111" y="1611666"/>
            <a:ext cx="3695700" cy="2082800"/>
          </a:xfrm>
          <a:prstGeom prst="roundRect">
            <a:avLst>
              <a:gd name="adj" fmla="val 7453"/>
            </a:avLst>
          </a:prstGeom>
        </p:spPr>
      </p:pic>
      <p:pic>
        <p:nvPicPr>
          <p:cNvPr id="4" name="Picture 69582">
            <a:extLst>
              <a:ext uri="{FF2B5EF4-FFF2-40B4-BE49-F238E27FC236}">
                <a16:creationId xmlns:a16="http://schemas.microsoft.com/office/drawing/2014/main" id="{036839F2-A533-FF58-8523-BAAFB2086CB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90666" y="4240461"/>
            <a:ext cx="3700145" cy="2087880"/>
          </a:xfrm>
          <a:prstGeom prst="rect">
            <a:avLst/>
          </a:prstGeom>
        </p:spPr>
      </p:pic>
      <p:pic>
        <p:nvPicPr>
          <p:cNvPr id="5" name="Picture 2979">
            <a:extLst>
              <a:ext uri="{FF2B5EF4-FFF2-40B4-BE49-F238E27FC236}">
                <a16:creationId xmlns:a16="http://schemas.microsoft.com/office/drawing/2014/main" id="{C1D22346-A4A6-BD15-1642-FB275DC616C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117604" y="1611666"/>
            <a:ext cx="3022600" cy="2082800"/>
          </a:xfrm>
          <a:prstGeom prst="roundRect">
            <a:avLst>
              <a:gd name="adj" fmla="val 7995"/>
            </a:avLst>
          </a:prstGeom>
        </p:spPr>
      </p:pic>
      <p:pic>
        <p:nvPicPr>
          <p:cNvPr id="6" name="Picture 69581">
            <a:extLst>
              <a:ext uri="{FF2B5EF4-FFF2-40B4-BE49-F238E27FC236}">
                <a16:creationId xmlns:a16="http://schemas.microsoft.com/office/drawing/2014/main" id="{67CE129A-8428-4C56-CF92-301C72658F1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113794" y="4240867"/>
            <a:ext cx="3026410" cy="2087880"/>
          </a:xfrm>
          <a:prstGeom prst="rect">
            <a:avLst/>
          </a:prstGeom>
        </p:spPr>
      </p:pic>
      <p:pic>
        <p:nvPicPr>
          <p:cNvPr id="7" name="Picture 2912">
            <a:extLst>
              <a:ext uri="{FF2B5EF4-FFF2-40B4-BE49-F238E27FC236}">
                <a16:creationId xmlns:a16="http://schemas.microsoft.com/office/drawing/2014/main" id="{1DA0C43F-E976-C4D0-530F-0D5691F97EC1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8707136" y="2843531"/>
            <a:ext cx="3223684" cy="2274182"/>
          </a:xfrm>
          <a:prstGeom prst="roundRect">
            <a:avLst>
              <a:gd name="adj" fmla="val 9221"/>
            </a:avLst>
          </a:prstGeom>
        </p:spPr>
      </p:pic>
      <p:sp>
        <p:nvSpPr>
          <p:cNvPr id="9" name="Rectangle 2977">
            <a:extLst>
              <a:ext uri="{FF2B5EF4-FFF2-40B4-BE49-F238E27FC236}">
                <a16:creationId xmlns:a16="http://schemas.microsoft.com/office/drawing/2014/main" id="{700AB880-D981-6099-5311-CFB8AACC45E1}"/>
              </a:ext>
            </a:extLst>
          </p:cNvPr>
          <p:cNvSpPr/>
          <p:nvPr/>
        </p:nvSpPr>
        <p:spPr>
          <a:xfrm>
            <a:off x="4178028" y="2343997"/>
            <a:ext cx="1095058" cy="21463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6350" indent="-635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2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Depth</a:t>
            </a:r>
            <a:r>
              <a:rPr lang="ru-RU" sz="1200" kern="100" spc="-2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sz="12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map</a:t>
            </a:r>
            <a:r>
              <a:rPr lang="ru-RU" sz="1200" kern="100" spc="-2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sz="12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Rectangle 2977">
            <a:extLst>
              <a:ext uri="{FF2B5EF4-FFF2-40B4-BE49-F238E27FC236}">
                <a16:creationId xmlns:a16="http://schemas.microsoft.com/office/drawing/2014/main" id="{290111A7-A78C-97B6-09D0-7994DA2F3911}"/>
              </a:ext>
            </a:extLst>
          </p:cNvPr>
          <p:cNvSpPr/>
          <p:nvPr/>
        </p:nvSpPr>
        <p:spPr>
          <a:xfrm>
            <a:off x="4178028" y="4975332"/>
            <a:ext cx="1095058" cy="21463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6350" indent="-635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2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Depth</a:t>
            </a:r>
            <a:r>
              <a:rPr lang="ru-RU" sz="1200" kern="100" spc="-2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sz="12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map</a:t>
            </a:r>
            <a:r>
              <a:rPr lang="ru-RU" sz="1200" kern="100" spc="-2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kern="100" spc="-2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endParaRPr lang="ru-RU" sz="12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2977">
            <a:extLst>
              <a:ext uri="{FF2B5EF4-FFF2-40B4-BE49-F238E27FC236}">
                <a16:creationId xmlns:a16="http://schemas.microsoft.com/office/drawing/2014/main" id="{7466AC4B-3F48-051B-ED27-7A7800F8C387}"/>
              </a:ext>
            </a:extLst>
          </p:cNvPr>
          <p:cNvSpPr/>
          <p:nvPr/>
        </p:nvSpPr>
        <p:spPr>
          <a:xfrm>
            <a:off x="8227421" y="3872673"/>
            <a:ext cx="392498" cy="23807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6350" indent="-635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200" kern="100" spc="-2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R, t</a:t>
            </a:r>
            <a:endParaRPr lang="ru-RU" sz="12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Соединитель: изогнутый 16">
            <a:extLst>
              <a:ext uri="{FF2B5EF4-FFF2-40B4-BE49-F238E27FC236}">
                <a16:creationId xmlns:a16="http://schemas.microsoft.com/office/drawing/2014/main" id="{C6F7A8F5-E5BA-7526-3A8A-7E17C1E5387E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8140204" y="2653066"/>
            <a:ext cx="566932" cy="132755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: изогнутый 18">
            <a:extLst>
              <a:ext uri="{FF2B5EF4-FFF2-40B4-BE49-F238E27FC236}">
                <a16:creationId xmlns:a16="http://schemas.microsoft.com/office/drawing/2014/main" id="{2619C744-4D71-71DA-DBC3-52FA52AFD569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8140204" y="3980622"/>
            <a:ext cx="566932" cy="130418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5011D0F1-36C7-B55A-CAC7-AD68046652B5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090811" y="2653066"/>
            <a:ext cx="10267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CDF64BA7-4330-CDEA-500D-8200C55E2AAA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4090811" y="5284401"/>
            <a:ext cx="1022983" cy="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A0CE67F9-20F5-7F4E-EE9F-5D5CBC87C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3345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7B4E2-87E5-5A95-B42D-B3D6D87AA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D0EAC2-285E-5224-96A6-A08C0AF67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Формулировка проблемы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2A769D-FE4F-B098-62C5-56CDB9F3FDBD}"/>
              </a:ext>
            </a:extLst>
          </p:cNvPr>
          <p:cNvSpPr txBox="1"/>
          <p:nvPr/>
        </p:nvSpPr>
        <p:spPr>
          <a:xfrm>
            <a:off x="841306" y="2611042"/>
            <a:ext cx="39245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Если нам дано два вида со 100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Характерными точками в каждом из них,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то у нас есть 200 координат точек в 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DD9D01-A2EA-65F0-23E4-333B4E5E3D03}"/>
              </a:ext>
            </a:extLst>
          </p:cNvPr>
          <p:cNvSpPr txBox="1"/>
          <p:nvPr/>
        </p:nvSpPr>
        <p:spPr>
          <a:xfrm>
            <a:off x="838200" y="1540293"/>
            <a:ext cx="3965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целом 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реконструкция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представляет собой сложную задачу.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69586">
            <a:extLst>
              <a:ext uri="{FF2B5EF4-FFF2-40B4-BE49-F238E27FC236}">
                <a16:creationId xmlns:a16="http://schemas.microsoft.com/office/drawing/2014/main" id="{2AFB3A43-14F0-1A41-16DA-52991CF16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565" y="1653968"/>
            <a:ext cx="2901702" cy="1914148"/>
          </a:xfrm>
          <a:prstGeom prst="rect">
            <a:avLst/>
          </a:prstGeom>
        </p:spPr>
      </p:pic>
      <p:pic>
        <p:nvPicPr>
          <p:cNvPr id="14" name="Picture 69587">
            <a:extLst>
              <a:ext uri="{FF2B5EF4-FFF2-40B4-BE49-F238E27FC236}">
                <a16:creationId xmlns:a16="http://schemas.microsoft.com/office/drawing/2014/main" id="{B98A70DC-570F-1526-F903-2B2FE03EF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421" y="1653968"/>
            <a:ext cx="2901702" cy="1914148"/>
          </a:xfrm>
          <a:prstGeom prst="rect">
            <a:avLst/>
          </a:prstGeom>
        </p:spPr>
      </p:pic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490E83E8-EFFD-D7E3-9FF4-8E4809F7308D}"/>
              </a:ext>
            </a:extLst>
          </p:cNvPr>
          <p:cNvCxnSpPr>
            <a:cxnSpLocks/>
          </p:cNvCxnSpPr>
          <p:nvPr/>
        </p:nvCxnSpPr>
        <p:spPr>
          <a:xfrm flipH="1">
            <a:off x="5321300" y="2240280"/>
            <a:ext cx="2366010" cy="3006090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1DCCA1A1-01EC-1966-B09A-AECDEABC5B00}"/>
              </a:ext>
            </a:extLst>
          </p:cNvPr>
          <p:cNvCxnSpPr>
            <a:cxnSpLocks/>
          </p:cNvCxnSpPr>
          <p:nvPr/>
        </p:nvCxnSpPr>
        <p:spPr>
          <a:xfrm>
            <a:off x="10358756" y="2227035"/>
            <a:ext cx="1185544" cy="3157834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Дуга 23">
            <a:extLst>
              <a:ext uri="{FF2B5EF4-FFF2-40B4-BE49-F238E27FC236}">
                <a16:creationId xmlns:a16="http://schemas.microsoft.com/office/drawing/2014/main" id="{3445AFFA-58E6-11B3-FA00-9B2B8C88C211}"/>
              </a:ext>
            </a:extLst>
          </p:cNvPr>
          <p:cNvSpPr/>
          <p:nvPr/>
        </p:nvSpPr>
        <p:spPr>
          <a:xfrm rot="10800000">
            <a:off x="5448586" y="5040708"/>
            <a:ext cx="6185670" cy="703528"/>
          </a:xfrm>
          <a:prstGeom prst="arc">
            <a:avLst>
              <a:gd name="adj1" fmla="val 11058240"/>
              <a:gd name="adj2" fmla="val 21493512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B9876C2-3A62-DABC-80BF-A00207BDEFF1}"/>
                  </a:ext>
                </a:extLst>
              </p:cNvPr>
              <p:cNvSpPr txBox="1"/>
              <p:nvPr/>
            </p:nvSpPr>
            <p:spPr>
              <a:xfrm>
                <a:off x="4896425" y="4928200"/>
                <a:ext cx="3002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B9876C2-3A62-DABC-80BF-A00207BDE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425" y="4928200"/>
                <a:ext cx="300275" cy="276999"/>
              </a:xfrm>
              <a:prstGeom prst="rect">
                <a:avLst/>
              </a:prstGeom>
              <a:blipFill>
                <a:blip r:embed="rId4"/>
                <a:stretch>
                  <a:fillRect l="-16327" r="-8163" b="-13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CF25729-14BD-A152-4C78-9FDDA9A9BB33}"/>
                  </a:ext>
                </a:extLst>
              </p:cNvPr>
              <p:cNvSpPr txBox="1"/>
              <p:nvPr/>
            </p:nvSpPr>
            <p:spPr>
              <a:xfrm>
                <a:off x="11761893" y="5516417"/>
                <a:ext cx="305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CF25729-14BD-A152-4C78-9FDDA9A9B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893" y="5516417"/>
                <a:ext cx="305596" cy="276999"/>
              </a:xfrm>
              <a:prstGeom prst="rect">
                <a:avLst/>
              </a:prstGeom>
              <a:blipFill>
                <a:blip r:embed="rId5"/>
                <a:stretch>
                  <a:fillRect l="-17647" r="-3922" b="-1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B4097C-BF43-70D0-C628-484FCF7AA78B}"/>
                  </a:ext>
                </a:extLst>
              </p:cNvPr>
              <p:cNvSpPr txBox="1"/>
              <p:nvPr/>
            </p:nvSpPr>
            <p:spPr>
              <a:xfrm>
                <a:off x="8134422" y="5040708"/>
                <a:ext cx="25519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 dirty="0"/>
              </a:p>
              <a:p>
                <a:pPr algn="ctr"/>
                <a:r>
                  <a:rPr lang="en-US" dirty="0"/>
                  <a:t>t</a:t>
                </a:r>
                <a:endParaRPr lang="ru-RU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B4097C-BF43-70D0-C628-484FCF7AA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422" y="5040708"/>
                <a:ext cx="255198" cy="553998"/>
              </a:xfrm>
              <a:prstGeom prst="rect">
                <a:avLst/>
              </a:prstGeom>
              <a:blipFill>
                <a:blip r:embed="rId6"/>
                <a:stretch>
                  <a:fillRect l="-30952" r="-11905" b="-241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08522600-E261-F7AD-8205-3634B82FB81C}"/>
              </a:ext>
            </a:extLst>
          </p:cNvPr>
          <p:cNvSpPr txBox="1"/>
          <p:nvPr/>
        </p:nvSpPr>
        <p:spPr>
          <a:xfrm>
            <a:off x="838199" y="5557218"/>
            <a:ext cx="4607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Цель состоит в том, чтобы оценить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FAE02E-C707-96FF-2BD3-1058A9DF9BD3}"/>
                  </a:ext>
                </a:extLst>
              </p:cNvPr>
              <p:cNvSpPr txBox="1"/>
              <p:nvPr/>
            </p:nvSpPr>
            <p:spPr>
              <a:xfrm>
                <a:off x="838200" y="5926550"/>
                <a:ext cx="6211509" cy="703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FAE02E-C707-96FF-2BD3-1058A9DF9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926550"/>
                <a:ext cx="6211509" cy="7035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3596">
            <a:extLst>
              <a:ext uri="{FF2B5EF4-FFF2-40B4-BE49-F238E27FC236}">
                <a16:creationId xmlns:a16="http://schemas.microsoft.com/office/drawing/2014/main" id="{54D8CC94-4D03-D043-DFD3-59F214FC458F}"/>
              </a:ext>
            </a:extLst>
          </p:cNvPr>
          <p:cNvSpPr/>
          <p:nvPr/>
        </p:nvSpPr>
        <p:spPr>
          <a:xfrm>
            <a:off x="5450840" y="4201183"/>
            <a:ext cx="680720" cy="496570"/>
          </a:xfrm>
          <a:custGeom>
            <a:avLst/>
            <a:gdLst/>
            <a:ahLst/>
            <a:cxnLst/>
            <a:rect l="0" t="0" r="0" b="0"/>
            <a:pathLst>
              <a:path w="681228" h="497059">
                <a:moveTo>
                  <a:pt x="2870" y="200"/>
                </a:moveTo>
                <a:lnTo>
                  <a:pt x="679018" y="88910"/>
                </a:lnTo>
                <a:cubicBezTo>
                  <a:pt x="680283" y="89076"/>
                  <a:pt x="681228" y="90154"/>
                  <a:pt x="681228" y="91429"/>
                </a:cubicBezTo>
                <a:lnTo>
                  <a:pt x="681228" y="494349"/>
                </a:lnTo>
                <a:cubicBezTo>
                  <a:pt x="681228" y="495877"/>
                  <a:pt x="679888" y="497059"/>
                  <a:pt x="678372" y="496869"/>
                </a:cubicBezTo>
                <a:lnTo>
                  <a:pt x="2224" y="412015"/>
                </a:lnTo>
                <a:cubicBezTo>
                  <a:pt x="953" y="411855"/>
                  <a:pt x="0" y="410775"/>
                  <a:pt x="0" y="409495"/>
                </a:cubicBezTo>
                <a:lnTo>
                  <a:pt x="0" y="2718"/>
                </a:lnTo>
                <a:cubicBezTo>
                  <a:pt x="0" y="1184"/>
                  <a:pt x="1350" y="0"/>
                  <a:pt x="2870" y="20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0" cap="flat">
            <a:miter lim="127000"/>
          </a:ln>
        </p:spPr>
        <p:style>
          <a:lnRef idx="0">
            <a:srgbClr val="000000">
              <a:alpha val="0"/>
            </a:srgbClr>
          </a:lnRef>
          <a:fillRef idx="1">
            <a:srgbClr val="FCFCFB"/>
          </a:fillRef>
          <a:effectRef idx="0">
            <a:scrgbClr r="0" g="0" b="0"/>
          </a:effectRef>
          <a:fontRef idx="none"/>
        </p:style>
        <p:txBody>
          <a:bodyPr/>
          <a:lstStyle/>
          <a:p>
            <a:endParaRPr lang="ru-RU" dirty="0"/>
          </a:p>
        </p:txBody>
      </p:sp>
      <p:sp>
        <p:nvSpPr>
          <p:cNvPr id="16" name="Shape 3605">
            <a:extLst>
              <a:ext uri="{FF2B5EF4-FFF2-40B4-BE49-F238E27FC236}">
                <a16:creationId xmlns:a16="http://schemas.microsoft.com/office/drawing/2014/main" id="{35CCF84E-D41F-89A8-99FA-31FC9E26C968}"/>
              </a:ext>
            </a:extLst>
          </p:cNvPr>
          <p:cNvSpPr/>
          <p:nvPr/>
        </p:nvSpPr>
        <p:spPr>
          <a:xfrm>
            <a:off x="11013440" y="4285831"/>
            <a:ext cx="680720" cy="496570"/>
          </a:xfrm>
          <a:custGeom>
            <a:avLst/>
            <a:gdLst/>
            <a:ahLst/>
            <a:cxnLst/>
            <a:rect l="0" t="0" r="0" b="0"/>
            <a:pathLst>
              <a:path w="681228" h="497059">
                <a:moveTo>
                  <a:pt x="678357" y="200"/>
                </a:moveTo>
                <a:cubicBezTo>
                  <a:pt x="679879" y="0"/>
                  <a:pt x="681228" y="1184"/>
                  <a:pt x="681228" y="2718"/>
                </a:cubicBezTo>
                <a:lnTo>
                  <a:pt x="681228" y="409495"/>
                </a:lnTo>
                <a:cubicBezTo>
                  <a:pt x="681228" y="410775"/>
                  <a:pt x="680275" y="411855"/>
                  <a:pt x="679005" y="412015"/>
                </a:cubicBezTo>
                <a:lnTo>
                  <a:pt x="2857" y="496869"/>
                </a:lnTo>
                <a:cubicBezTo>
                  <a:pt x="1339" y="497059"/>
                  <a:pt x="0" y="495877"/>
                  <a:pt x="0" y="494349"/>
                </a:cubicBezTo>
                <a:lnTo>
                  <a:pt x="0" y="91429"/>
                </a:lnTo>
                <a:cubicBezTo>
                  <a:pt x="0" y="90154"/>
                  <a:pt x="946" y="89076"/>
                  <a:pt x="2209" y="88910"/>
                </a:cubicBezTo>
                <a:lnTo>
                  <a:pt x="678357" y="2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0" cap="flat">
            <a:miter lim="127000"/>
          </a:ln>
        </p:spPr>
        <p:style>
          <a:lnRef idx="0">
            <a:srgbClr val="000000">
              <a:alpha val="0"/>
            </a:srgbClr>
          </a:lnRef>
          <a:fillRef idx="1">
            <a:srgbClr val="FCFCFB"/>
          </a:fillRef>
          <a:effectRef idx="0">
            <a:scrgbClr r="0" g="0" b="0"/>
          </a:effectRef>
          <a:fontRef idx="none"/>
        </p:style>
        <p:txBody>
          <a:bodyPr/>
          <a:lstStyle/>
          <a:p>
            <a:endParaRPr lang="ru-RU" dirty="0"/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28CFD853-EC97-3E4A-A1B0-9A4100004579}"/>
              </a:ext>
            </a:extLst>
          </p:cNvPr>
          <p:cNvCxnSpPr/>
          <p:nvPr/>
        </p:nvCxnSpPr>
        <p:spPr>
          <a:xfrm flipH="1" flipV="1">
            <a:off x="11193780" y="4449467"/>
            <a:ext cx="350520" cy="9354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7AC0BE-8639-3D1D-7CB3-09DB733962BB}"/>
                  </a:ext>
                </a:extLst>
              </p:cNvPr>
              <p:cNvSpPr txBox="1"/>
              <p:nvPr/>
            </p:nvSpPr>
            <p:spPr>
              <a:xfrm>
                <a:off x="5657977" y="4190691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7AC0BE-8639-3D1D-7CB3-09DB73396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977" y="4190691"/>
                <a:ext cx="276101" cy="276999"/>
              </a:xfrm>
              <a:prstGeom prst="rect">
                <a:avLst/>
              </a:prstGeom>
              <a:blipFill>
                <a:blip r:embed="rId8"/>
                <a:stretch>
                  <a:fillRect l="-11111" r="-6667" b="-13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62309-F7C5-BF9D-686F-6A2E4E887125}"/>
                  </a:ext>
                </a:extLst>
              </p:cNvPr>
              <p:cNvSpPr txBox="1"/>
              <p:nvPr/>
            </p:nvSpPr>
            <p:spPr>
              <a:xfrm>
                <a:off x="11228328" y="4285831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B62309-F7C5-BF9D-686F-6A2E4E887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8328" y="4285831"/>
                <a:ext cx="281423" cy="276999"/>
              </a:xfrm>
              <a:prstGeom prst="rect">
                <a:avLst/>
              </a:prstGeom>
              <a:blipFill>
                <a:blip r:embed="rId9"/>
                <a:stretch>
                  <a:fillRect l="-10870" r="-6522" b="-1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3D37283E-F7F4-F4C3-EBD4-3F035FD308DF}"/>
              </a:ext>
            </a:extLst>
          </p:cNvPr>
          <p:cNvCxnSpPr>
            <a:cxnSpLocks/>
          </p:cNvCxnSpPr>
          <p:nvPr/>
        </p:nvCxnSpPr>
        <p:spPr>
          <a:xfrm flipV="1">
            <a:off x="5321300" y="4393333"/>
            <a:ext cx="670560" cy="8530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8D891B-5BFD-D16E-54D1-20F4E48A3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567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B697B-0D5F-6291-2287-9B243EF50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1B6B81-160E-37B3-CC2B-E4264D0E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err="1">
                <a:latin typeface="Arial" panose="020B0604020202020204" pitchFamily="34" charset="0"/>
                <a:cs typeface="Arial" panose="020B0604020202020204" pitchFamily="34" charset="0"/>
              </a:rPr>
              <a:t>Эпиполярная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 геометрия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DFD806-B9D0-CE00-B64D-7C91AD5195D3}"/>
                  </a:ext>
                </a:extLst>
              </p:cNvPr>
              <p:cNvSpPr txBox="1"/>
              <p:nvPr/>
            </p:nvSpPr>
            <p:spPr>
              <a:xfrm>
                <a:off x="838200" y="2170800"/>
                <a:ext cx="54576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луч на первой камере (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back-project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от фичи 1)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DFD806-B9D0-CE00-B64D-7C91AD519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70800"/>
                <a:ext cx="5457648" cy="276999"/>
              </a:xfrm>
              <a:prstGeom prst="rect">
                <a:avLst/>
              </a:prstGeom>
              <a:blipFill>
                <a:blip r:embed="rId2"/>
                <a:stretch>
                  <a:fillRect l="-1117" t="-28261" r="-1676" b="-5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A095BF-326E-9C2C-3E5A-79C83EE4A284}"/>
                  </a:ext>
                </a:extLst>
              </p:cNvPr>
              <p:cNvSpPr txBox="1"/>
              <p:nvPr/>
            </p:nvSpPr>
            <p:spPr>
              <a:xfrm>
                <a:off x="838200" y="2571555"/>
                <a:ext cx="54386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луч на второй камере (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back-project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от фичи 2)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A095BF-326E-9C2C-3E5A-79C83EE4A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71555"/>
                <a:ext cx="5438668" cy="276999"/>
              </a:xfrm>
              <a:prstGeom prst="rect">
                <a:avLst/>
              </a:prstGeom>
              <a:blipFill>
                <a:blip r:embed="rId3"/>
                <a:stretch>
                  <a:fillRect l="-1121" t="-28889" r="-1682" b="-5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DF3B3-EC2C-2A45-B5EB-E52EF2EBF540}"/>
                  </a:ext>
                </a:extLst>
              </p:cNvPr>
              <p:cNvSpPr txBox="1"/>
              <p:nvPr/>
            </p:nvSpPr>
            <p:spPr>
              <a:xfrm>
                <a:off x="838200" y="3384042"/>
                <a:ext cx="9544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DF3B3-EC2C-2A45-B5EB-E52EF2EBF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84042"/>
                <a:ext cx="954427" cy="276999"/>
              </a:xfrm>
              <a:prstGeom prst="rect">
                <a:avLst/>
              </a:prstGeom>
              <a:blipFill>
                <a:blip r:embed="rId4"/>
                <a:stretch>
                  <a:fillRect l="-5769" r="-5128" b="-13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95FCCB-7216-BE83-6423-FDA973F520DE}"/>
                  </a:ext>
                </a:extLst>
              </p:cNvPr>
              <p:cNvSpPr txBox="1"/>
              <p:nvPr/>
            </p:nvSpPr>
            <p:spPr>
              <a:xfrm>
                <a:off x="2467682" y="3384042"/>
                <a:ext cx="15311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95FCCB-7216-BE83-6423-FDA973F52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7682" y="3384042"/>
                <a:ext cx="1531188" cy="276999"/>
              </a:xfrm>
              <a:prstGeom prst="rect">
                <a:avLst/>
              </a:prstGeom>
              <a:blipFill>
                <a:blip r:embed="rId5"/>
                <a:stretch>
                  <a:fillRect l="-3187" r="-2789" b="-13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BCF3D5-6E19-7C66-2E34-D82C66AE0DB9}"/>
                  </a:ext>
                </a:extLst>
              </p:cNvPr>
              <p:cNvSpPr txBox="1"/>
              <p:nvPr/>
            </p:nvSpPr>
            <p:spPr>
              <a:xfrm>
                <a:off x="838200" y="4187370"/>
                <a:ext cx="20210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BCF3D5-6E19-7C66-2E34-D82C66AE0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87370"/>
                <a:ext cx="2021002" cy="276999"/>
              </a:xfrm>
              <a:prstGeom prst="rect">
                <a:avLst/>
              </a:prstGeom>
              <a:blipFill>
                <a:blip r:embed="rId6"/>
                <a:stretch>
                  <a:fillRect l="-2115" t="-2222" r="-2115" b="-3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5B80D6-E53C-746F-0050-194B6A838704}"/>
                  </a:ext>
                </a:extLst>
              </p:cNvPr>
              <p:cNvSpPr txBox="1"/>
              <p:nvPr/>
            </p:nvSpPr>
            <p:spPr>
              <a:xfrm>
                <a:off x="838200" y="5092055"/>
                <a:ext cx="1689116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5B80D6-E53C-746F-0050-194B6A838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092055"/>
                <a:ext cx="1689116" cy="284437"/>
              </a:xfrm>
              <a:prstGeom prst="rect">
                <a:avLst/>
              </a:prstGeom>
              <a:blipFill>
                <a:blip r:embed="rId7"/>
                <a:stretch>
                  <a:fillRect l="-2888" t="-17021" r="-361" b="-148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DAF256-EECA-D1CD-2D65-DC0F8DD53B24}"/>
                  </a:ext>
                </a:extLst>
              </p:cNvPr>
              <p:cNvSpPr txBox="1"/>
              <p:nvPr/>
            </p:nvSpPr>
            <p:spPr>
              <a:xfrm>
                <a:off x="3202677" y="5093355"/>
                <a:ext cx="1171346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DAF256-EECA-D1CD-2D65-DC0F8DD53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677" y="5093355"/>
                <a:ext cx="1171346" cy="284437"/>
              </a:xfrm>
              <a:prstGeom prst="rect">
                <a:avLst/>
              </a:prstGeom>
              <a:blipFill>
                <a:blip r:embed="rId8"/>
                <a:stretch>
                  <a:fillRect l="-4145" t="-19565" r="-1554" b="-8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B91B16-EC99-98D6-00FB-C4852A28E691}"/>
                  </a:ext>
                </a:extLst>
              </p:cNvPr>
              <p:cNvSpPr txBox="1"/>
              <p:nvPr/>
            </p:nvSpPr>
            <p:spPr>
              <a:xfrm>
                <a:off x="4823760" y="4782223"/>
                <a:ext cx="2333331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B91B16-EC99-98D6-00FB-C4852A28E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760" y="4782223"/>
                <a:ext cx="2333331" cy="8917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772BE7E-6EEF-BE82-53A1-21289DD6F7B1}"/>
                  </a:ext>
                </a:extLst>
              </p:cNvPr>
              <p:cNvSpPr txBox="1"/>
              <p:nvPr/>
            </p:nvSpPr>
            <p:spPr>
              <a:xfrm>
                <a:off x="838200" y="5790307"/>
                <a:ext cx="1250983" cy="2846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772BE7E-6EEF-BE82-53A1-21289DD6F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790307"/>
                <a:ext cx="1250983" cy="284630"/>
              </a:xfrm>
              <a:prstGeom prst="rect">
                <a:avLst/>
              </a:prstGeom>
              <a:blipFill>
                <a:blip r:embed="rId10"/>
                <a:stretch>
                  <a:fillRect l="-1463" t="-19149" r="-3415" b="-170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9B5CA35-AA83-6361-64E2-73AB7162B6AE}"/>
              </a:ext>
            </a:extLst>
          </p:cNvPr>
          <p:cNvSpPr txBox="1"/>
          <p:nvPr/>
        </p:nvSpPr>
        <p:spPr>
          <a:xfrm>
            <a:off x="4381746" y="3233367"/>
            <a:ext cx="43892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3D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точка в первой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 второй камерах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8074D5-14D5-E68B-43D6-357B44D14BEB}"/>
              </a:ext>
            </a:extLst>
          </p:cNvPr>
          <p:cNvSpPr txBox="1"/>
          <p:nvPr/>
        </p:nvSpPr>
        <p:spPr>
          <a:xfrm>
            <a:off x="3308939" y="4033821"/>
            <a:ext cx="32429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Подставляем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из первого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уравнения во второе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E02CB5C-0B00-7AC4-AD11-822538527050}"/>
                  </a:ext>
                </a:extLst>
              </p:cNvPr>
              <p:cNvSpPr txBox="1"/>
              <p:nvPr/>
            </p:nvSpPr>
            <p:spPr>
              <a:xfrm>
                <a:off x="7533226" y="2170801"/>
                <a:ext cx="40554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глубина точки на первой камере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E02CB5C-0B00-7AC4-AD11-822538527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226" y="2170801"/>
                <a:ext cx="4055406" cy="276999"/>
              </a:xfrm>
              <a:prstGeom prst="rect">
                <a:avLst/>
              </a:prstGeom>
              <a:blipFill>
                <a:blip r:embed="rId11"/>
                <a:stretch>
                  <a:fillRect l="-2105" t="-28261" r="-451" b="-5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4EDD014-BA5C-A64E-F753-8AD339CEF56E}"/>
                  </a:ext>
                </a:extLst>
              </p:cNvPr>
              <p:cNvSpPr txBox="1"/>
              <p:nvPr/>
            </p:nvSpPr>
            <p:spPr>
              <a:xfrm>
                <a:off x="7533226" y="2571556"/>
                <a:ext cx="39658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глубина точки на второй камере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4EDD014-BA5C-A64E-F753-8AD339CEF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226" y="2571556"/>
                <a:ext cx="3965894" cy="276999"/>
              </a:xfrm>
              <a:prstGeom prst="rect">
                <a:avLst/>
              </a:prstGeom>
              <a:blipFill>
                <a:blip r:embed="rId12"/>
                <a:stretch>
                  <a:fillRect l="-2154" t="-28889" r="-2615" b="-5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4F22DEB9-C271-C552-78B1-F6683886DCB7}"/>
              </a:ext>
            </a:extLst>
          </p:cNvPr>
          <p:cNvSpPr txBox="1"/>
          <p:nvPr/>
        </p:nvSpPr>
        <p:spPr>
          <a:xfrm>
            <a:off x="2723868" y="5747956"/>
            <a:ext cx="2328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epipolar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constraint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6D2F0438-D00A-83DA-1532-307127320BD0}"/>
              </a:ext>
            </a:extLst>
          </p:cNvPr>
          <p:cNvCxnSpPr>
            <a:stCxn id="23" idx="3"/>
            <a:endCxn id="35" idx="1"/>
          </p:cNvCxnSpPr>
          <p:nvPr/>
        </p:nvCxnSpPr>
        <p:spPr>
          <a:xfrm>
            <a:off x="2089183" y="5932622"/>
            <a:ext cx="6346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 descr="Изображение выглядит как диаграмма, линия, рису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9101D03-4E52-1121-D3A2-F90F95C644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099" y="3233367"/>
            <a:ext cx="3131659" cy="3131659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B05BD2CC-E2DB-658C-B393-6B54C0F47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610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D4E98-4FD6-455C-4A21-01AAE2EAA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A3EEC7-365F-A52D-794F-E510E384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Существенная матрица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A83FD85-65C9-D5BC-B326-899F7BB407E2}"/>
                  </a:ext>
                </a:extLst>
              </p:cNvPr>
              <p:cNvSpPr txBox="1"/>
              <p:nvPr/>
            </p:nvSpPr>
            <p:spPr>
              <a:xfrm>
                <a:off x="838200" y="3756356"/>
                <a:ext cx="1727974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3×3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A83FD85-65C9-D5BC-B326-899F7BB40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756356"/>
                <a:ext cx="1727974" cy="284437"/>
              </a:xfrm>
              <a:prstGeom prst="rect">
                <a:avLst/>
              </a:prstGeom>
              <a:blipFill>
                <a:blip r:embed="rId2"/>
                <a:stretch>
                  <a:fillRect l="-2827" t="-17021" r="-353" b="-85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F5E727BF-FCDB-637E-0D9A-B0BCA81E701F}"/>
              </a:ext>
            </a:extLst>
          </p:cNvPr>
          <p:cNvSpPr txBox="1"/>
          <p:nvPr/>
        </p:nvSpPr>
        <p:spPr>
          <a:xfrm>
            <a:off x="838200" y="2471466"/>
            <a:ext cx="62806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Epipolar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constraint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предоставляет отношение между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двумя 2D точками. Здесь больше не нужна 3D точка.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16143A-39C9-3E10-1377-364CE8382664}"/>
                  </a:ext>
                </a:extLst>
              </p:cNvPr>
              <p:cNvSpPr txBox="1"/>
              <p:nvPr/>
            </p:nvSpPr>
            <p:spPr>
              <a:xfrm>
                <a:off x="7487043" y="2467651"/>
                <a:ext cx="1250983" cy="2846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16143A-39C9-3E10-1377-364CE8382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043" y="2467651"/>
                <a:ext cx="1250983" cy="284630"/>
              </a:xfrm>
              <a:prstGeom prst="rect">
                <a:avLst/>
              </a:prstGeom>
              <a:blipFill>
                <a:blip r:embed="rId3"/>
                <a:stretch>
                  <a:fillRect l="-1463" t="-19565" r="-3902" b="-195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8A691BE-3E4C-93BA-97C8-98EB0CBFAA58}"/>
              </a:ext>
            </a:extLst>
          </p:cNvPr>
          <p:cNvSpPr txBox="1"/>
          <p:nvPr/>
        </p:nvSpPr>
        <p:spPr>
          <a:xfrm>
            <a:off x="9024887" y="2425300"/>
            <a:ext cx="2328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epipolar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constraint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0E4850-AF64-120F-8C66-C01A7A364153}"/>
              </a:ext>
            </a:extLst>
          </p:cNvPr>
          <p:cNvSpPr txBox="1"/>
          <p:nvPr/>
        </p:nvSpPr>
        <p:spPr>
          <a:xfrm>
            <a:off x="838200" y="41542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существенная матрица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Essential matrix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EB6878-D607-4914-CA9D-69B37E3C805A}"/>
                  </a:ext>
                </a:extLst>
              </p:cNvPr>
              <p:cNvSpPr txBox="1"/>
              <p:nvPr/>
            </p:nvSpPr>
            <p:spPr>
              <a:xfrm>
                <a:off x="7487043" y="4154284"/>
                <a:ext cx="10686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EB6878-D607-4914-CA9D-69B37E3C8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043" y="4154284"/>
                <a:ext cx="1068690" cy="276999"/>
              </a:xfrm>
              <a:prstGeom prst="rect">
                <a:avLst/>
              </a:prstGeom>
              <a:blipFill>
                <a:blip r:embed="rId4"/>
                <a:stretch>
                  <a:fillRect l="-4571" r="-1714" b="-6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E09565-851B-3E8D-0166-A37A9774D846}"/>
                  </a:ext>
                </a:extLst>
              </p:cNvPr>
              <p:cNvSpPr txBox="1"/>
              <p:nvPr/>
            </p:nvSpPr>
            <p:spPr>
              <a:xfrm>
                <a:off x="8686221" y="4150848"/>
                <a:ext cx="17216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𝑑𝑖𝑎𝑔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E09565-851B-3E8D-0166-A37A9774D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221" y="4150848"/>
                <a:ext cx="1721690" cy="276999"/>
              </a:xfrm>
              <a:prstGeom prst="rect">
                <a:avLst/>
              </a:prstGeom>
              <a:blipFill>
                <a:blip r:embed="rId5"/>
                <a:stretch>
                  <a:fillRect l="-2837" t="-2222" b="-3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FCDDCF77-EA4E-534C-F58C-4F9C6AC6245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738026" y="2609966"/>
            <a:ext cx="2868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99F4F8-15C9-5782-281C-1D0BC5A1D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714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53F58-701F-CEE5-94FB-BD8ED9216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FCBD0-AA71-6EEE-AC93-BC6E5D0AA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Существенная матрица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1CE4C7-42C3-E2A8-B857-1BABF01F85B2}"/>
              </a:ext>
            </a:extLst>
          </p:cNvPr>
          <p:cNvSpPr txBox="1"/>
          <p:nvPr/>
        </p:nvSpPr>
        <p:spPr>
          <a:xfrm>
            <a:off x="838200" y="1758704"/>
            <a:ext cx="62806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Свойства существенной матрицы: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93343C-5164-8EA6-411B-3397DB743CC2}"/>
                  </a:ext>
                </a:extLst>
              </p:cNvPr>
              <p:cNvSpPr txBox="1"/>
              <p:nvPr/>
            </p:nvSpPr>
            <p:spPr>
              <a:xfrm>
                <a:off x="838199" y="2263756"/>
                <a:ext cx="826064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Epipolar </a:t>
                </a:r>
                <a:r>
                  <a:rPr lang="ru-RU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constraint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геометрически означает, </a:t>
                </a:r>
              </a:p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что векторы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x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x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лежат в одной плоскости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Существенная матрица имеет специальный вид разложения SVD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93343C-5164-8EA6-411B-3397DB743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263756"/>
                <a:ext cx="8260645" cy="1200329"/>
              </a:xfrm>
              <a:prstGeom prst="rect">
                <a:avLst/>
              </a:prstGeom>
              <a:blipFill>
                <a:blip r:embed="rId2"/>
                <a:stretch>
                  <a:fillRect l="-590" t="-3553" b="-71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DE12C3C-2637-D087-38A6-8828BB7D17F6}"/>
              </a:ext>
            </a:extLst>
          </p:cNvPr>
          <p:cNvSpPr txBox="1"/>
          <p:nvPr/>
        </p:nvSpPr>
        <p:spPr>
          <a:xfrm>
            <a:off x="838198" y="4545299"/>
            <a:ext cx="9773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Как получить вращение и перемещение из существенной матрицы?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3D57A3-DFD7-86EE-7E0C-2ABF92F498B0}"/>
                  </a:ext>
                </a:extLst>
              </p:cNvPr>
              <p:cNvSpPr txBox="1"/>
              <p:nvPr/>
            </p:nvSpPr>
            <p:spPr>
              <a:xfrm>
                <a:off x="838199" y="5002664"/>
                <a:ext cx="4342599" cy="489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sSup>
                            <m:sSup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3D57A3-DFD7-86EE-7E0C-2ABF92F49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5002664"/>
                <a:ext cx="4342599" cy="4898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5BBB3E-7BB4-7DA8-A3B9-B3D5E91C253B}"/>
                  </a:ext>
                </a:extLst>
              </p:cNvPr>
              <p:cNvSpPr txBox="1"/>
              <p:nvPr/>
            </p:nvSpPr>
            <p:spPr>
              <a:xfrm>
                <a:off x="6096000" y="5032284"/>
                <a:ext cx="4298613" cy="489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sSup>
                            <m:sSup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5BBB3E-7BB4-7DA8-A3B9-B3D5E91C2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032284"/>
                <a:ext cx="4298613" cy="4898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10C53C-A3B0-7DCD-48CE-A97F0B2EC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866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3C3C0-B546-4348-528C-9AD3FA5C0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6312-EB83-97D4-D9C2-55BEA559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Базовый алгоритм реконструкции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1177AD-32AF-9C63-EFE3-50B58DFFBF9C}"/>
              </a:ext>
            </a:extLst>
          </p:cNvPr>
          <p:cNvSpPr txBox="1"/>
          <p:nvPr/>
        </p:nvSpPr>
        <p:spPr>
          <a:xfrm>
            <a:off x="838200" y="2652942"/>
            <a:ext cx="67140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Восстановить существенную матрицу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из набора фич на левой и правой картинке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61AC1E-FA16-6B77-26EB-9F79D8C5E477}"/>
                  </a:ext>
                </a:extLst>
              </p:cNvPr>
              <p:cNvSpPr txBox="1"/>
              <p:nvPr/>
            </p:nvSpPr>
            <p:spPr>
              <a:xfrm>
                <a:off x="838200" y="4444270"/>
                <a:ext cx="50997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Восстановить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из существенной матрицы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61AC1E-FA16-6B77-26EB-9F79D8C5E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44270"/>
                <a:ext cx="5099756" cy="369332"/>
              </a:xfrm>
              <a:prstGeom prst="rect">
                <a:avLst/>
              </a:prstGeom>
              <a:blipFill>
                <a:blip r:embed="rId2"/>
                <a:stretch>
                  <a:fillRect l="-1077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080100-06AF-738E-DEC3-C9E059B5E3E1}"/>
                  </a:ext>
                </a:extLst>
              </p:cNvPr>
              <p:cNvSpPr txBox="1"/>
              <p:nvPr/>
            </p:nvSpPr>
            <p:spPr>
              <a:xfrm>
                <a:off x="7011201" y="4444270"/>
                <a:ext cx="4342599" cy="489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sSup>
                            <m:sSup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080100-06AF-738E-DEC3-C9E059B5E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1201" y="4444270"/>
                <a:ext cx="4342599" cy="4898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44C18E-0088-6A21-3ADE-CCE64E0764D6}"/>
                  </a:ext>
                </a:extLst>
              </p:cNvPr>
              <p:cNvSpPr txBox="1"/>
              <p:nvPr/>
            </p:nvSpPr>
            <p:spPr>
              <a:xfrm>
                <a:off x="7011201" y="5149853"/>
                <a:ext cx="4298613" cy="489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sSup>
                            <m:sSup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44C18E-0088-6A21-3ADE-CCE64E076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1201" y="5149853"/>
                <a:ext cx="4298613" cy="4898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D162DC-2781-8DD5-5964-BEB659E1AC89}"/>
                  </a:ext>
                </a:extLst>
              </p:cNvPr>
              <p:cNvSpPr txBox="1"/>
              <p:nvPr/>
            </p:nvSpPr>
            <p:spPr>
              <a:xfrm>
                <a:off x="7011201" y="2652942"/>
                <a:ext cx="1711622" cy="280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D162DC-2781-8DD5-5964-BEB659E1A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1201" y="2652942"/>
                <a:ext cx="1711622" cy="280846"/>
              </a:xfrm>
              <a:prstGeom prst="rect">
                <a:avLst/>
              </a:prstGeom>
              <a:blipFill>
                <a:blip r:embed="rId5"/>
                <a:stretch>
                  <a:fillRect r="-1068" b="-173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A90890-799C-8D48-F94F-29A8D68A1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422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CDB0B-9A87-9F58-79DB-D076BEE59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789EAC-3196-0EAE-8EF7-7413BEFC1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Singular Value Decomposition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9608">
            <a:extLst>
              <a:ext uri="{FF2B5EF4-FFF2-40B4-BE49-F238E27FC236}">
                <a16:creationId xmlns:a16="http://schemas.microsoft.com/office/drawing/2014/main" id="{088333B6-CA43-DEE6-BB81-F85FC3DE56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64384" y="2671371"/>
            <a:ext cx="5976056" cy="187536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F39529-E833-4C88-1530-36EAD14CD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" y="2301240"/>
            <a:ext cx="3307080" cy="3307080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86C756-37BF-8B3E-3BF5-F2CF7D66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621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E9474-B1FD-F5FB-D413-8380E59B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EF364-61B5-6F7F-88ED-DE606E8F5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8-точечный алгоритм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(The Eight-Point Linear Algorithm)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129C63-2753-38DB-F1A8-CB6157CC6B69}"/>
              </a:ext>
            </a:extLst>
          </p:cNvPr>
          <p:cNvSpPr txBox="1"/>
          <p:nvPr/>
        </p:nvSpPr>
        <p:spPr>
          <a:xfrm>
            <a:off x="838200" y="2248005"/>
            <a:ext cx="62806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Перепишем немного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epipolar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constraint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Представим существенную матрицу 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E в виде вектора.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EDF679-40F5-9A2D-133D-B96EFE4BF6D7}"/>
                  </a:ext>
                </a:extLst>
              </p:cNvPr>
              <p:cNvSpPr txBox="1"/>
              <p:nvPr/>
            </p:nvSpPr>
            <p:spPr>
              <a:xfrm>
                <a:off x="838200" y="3519387"/>
                <a:ext cx="345157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Так же введем комбинацию</a:t>
                </a:r>
              </a:p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векторов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и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EDF679-40F5-9A2D-133D-B96EFE4BF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19387"/>
                <a:ext cx="3451578" cy="646331"/>
              </a:xfrm>
              <a:prstGeom prst="rect">
                <a:avLst/>
              </a:prstGeom>
              <a:blipFill>
                <a:blip r:embed="rId2"/>
                <a:stretch>
                  <a:fillRect l="-1590" t="-4717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E8674FA-E1FB-FDCB-0C1D-BC8E56714089}"/>
              </a:ext>
            </a:extLst>
          </p:cNvPr>
          <p:cNvSpPr txBox="1"/>
          <p:nvPr/>
        </p:nvSpPr>
        <p:spPr>
          <a:xfrm>
            <a:off x="838200" y="4773381"/>
            <a:ext cx="4828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Тогда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epipolar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constraint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можно переписать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DD4FE1-8621-3C7D-5E22-AC9FC4C7B7BE}"/>
                  </a:ext>
                </a:extLst>
              </p:cNvPr>
              <p:cNvSpPr txBox="1"/>
              <p:nvPr/>
            </p:nvSpPr>
            <p:spPr>
              <a:xfrm>
                <a:off x="5847281" y="2248005"/>
                <a:ext cx="49509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DD4FE1-8621-3C7D-5E22-AC9FC4C7B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281" y="2248005"/>
                <a:ext cx="4950971" cy="276999"/>
              </a:xfrm>
              <a:prstGeom prst="rect">
                <a:avLst/>
              </a:prstGeom>
              <a:blipFill>
                <a:blip r:embed="rId3"/>
                <a:stretch>
                  <a:fillRect l="-1108" t="-2222" r="-369" b="-1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EAF9EB-E440-A87F-68DD-B661F9FF89AF}"/>
                  </a:ext>
                </a:extLst>
              </p:cNvPr>
              <p:cNvSpPr txBox="1"/>
              <p:nvPr/>
            </p:nvSpPr>
            <p:spPr>
              <a:xfrm>
                <a:off x="5847281" y="3519387"/>
                <a:ext cx="61232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EAF9EB-E440-A87F-68DD-B661F9FF8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281" y="3519387"/>
                <a:ext cx="6123215" cy="276999"/>
              </a:xfrm>
              <a:prstGeom prst="rect">
                <a:avLst/>
              </a:prstGeom>
              <a:blipFill>
                <a:blip r:embed="rId4"/>
                <a:stretch>
                  <a:fillRect l="-995" b="-239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62179D-9567-9F93-2173-2D596FB1A3B2}"/>
                  </a:ext>
                </a:extLst>
              </p:cNvPr>
              <p:cNvSpPr txBox="1"/>
              <p:nvPr/>
            </p:nvSpPr>
            <p:spPr>
              <a:xfrm>
                <a:off x="5847281" y="3901973"/>
                <a:ext cx="15284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62179D-9567-9F93-2173-2D596FB1A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281" y="3901973"/>
                <a:ext cx="1528432" cy="276999"/>
              </a:xfrm>
              <a:prstGeom prst="rect">
                <a:avLst/>
              </a:prstGeom>
              <a:blipFill>
                <a:blip r:embed="rId5"/>
                <a:stretch>
                  <a:fillRect l="-398" b="-239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4E1EE8-F17B-2E20-B6AA-A2F8031AF8F5}"/>
                  </a:ext>
                </a:extLst>
              </p:cNvPr>
              <p:cNvSpPr txBox="1"/>
              <p:nvPr/>
            </p:nvSpPr>
            <p:spPr>
              <a:xfrm>
                <a:off x="5847281" y="4773381"/>
                <a:ext cx="1921359" cy="280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4E1EE8-F17B-2E20-B6AA-A2F8031AF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281" y="4773381"/>
                <a:ext cx="1921359" cy="280846"/>
              </a:xfrm>
              <a:prstGeom prst="rect">
                <a:avLst/>
              </a:prstGeom>
              <a:blipFill>
                <a:blip r:embed="rId6"/>
                <a:stretch>
                  <a:fillRect l="-1270" r="-2857" b="-173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B059CA-B231-0E18-D52F-800541C11857}"/>
                  </a:ext>
                </a:extLst>
              </p:cNvPr>
              <p:cNvSpPr txBox="1"/>
              <p:nvPr/>
            </p:nvSpPr>
            <p:spPr>
              <a:xfrm>
                <a:off x="5847281" y="5298314"/>
                <a:ext cx="9989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</a:t>
                </a:r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B059CA-B231-0E18-D52F-800541C11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281" y="5298314"/>
                <a:ext cx="998928" cy="276999"/>
              </a:xfrm>
              <a:prstGeom prst="rect">
                <a:avLst/>
              </a:prstGeom>
              <a:blipFill>
                <a:blip r:embed="rId7"/>
                <a:stretch>
                  <a:fillRect l="-7927" t="-28261" r="-14024" b="-5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839895-CC1A-C470-D7EA-E889B995F8F6}"/>
                  </a:ext>
                </a:extLst>
              </p:cNvPr>
              <p:cNvSpPr txBox="1"/>
              <p:nvPr/>
            </p:nvSpPr>
            <p:spPr>
              <a:xfrm>
                <a:off x="7020772" y="5298314"/>
                <a:ext cx="21318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839895-CC1A-C470-D7EA-E889B995F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772" y="5298314"/>
                <a:ext cx="2131801" cy="276999"/>
              </a:xfrm>
              <a:prstGeom prst="rect">
                <a:avLst/>
              </a:prstGeom>
              <a:blipFill>
                <a:blip r:embed="rId8"/>
                <a:stretch>
                  <a:fillRect l="-2292" t="-2174" r="-573" b="-217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3CB2380-8DDD-936A-7661-DA9172AB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862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E707F-5556-9F50-33C5-835FBBDC7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DB6E60-109B-F1AC-BAE7-0584F6841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8-точечный алгоритм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(The Eight-Point Linear Algorithm)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20554B8-A5B6-6F86-F0D9-B1EA2C8B18B8}"/>
                  </a:ext>
                </a:extLst>
              </p:cNvPr>
              <p:cNvSpPr txBox="1"/>
              <p:nvPr/>
            </p:nvSpPr>
            <p:spPr>
              <a:xfrm>
                <a:off x="838200" y="2189354"/>
                <a:ext cx="628060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Полученная матрица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в общем случае не является</a:t>
                </a:r>
              </a:p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существенной матрицей, так как не удовлетворяет</a:t>
                </a:r>
              </a:p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ее свойствам. Самый простой способ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найти </a:t>
                </a:r>
              </a:p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ближайшую существенной к найденной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sup>
                    </m:sSup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20554B8-A5B6-6F86-F0D9-B1EA2C8B1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89354"/>
                <a:ext cx="6280609" cy="1200329"/>
              </a:xfrm>
              <a:prstGeom prst="rect">
                <a:avLst/>
              </a:prstGeom>
              <a:blipFill>
                <a:blip r:embed="rId2"/>
                <a:stretch>
                  <a:fillRect l="-874" t="-2538" b="-71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972698F-6AD1-5F29-85E1-A2E83016E46C}"/>
              </a:ext>
            </a:extLst>
          </p:cNvPr>
          <p:cNvSpPr txBox="1"/>
          <p:nvPr/>
        </p:nvSpPr>
        <p:spPr>
          <a:xfrm>
            <a:off x="7118809" y="2189354"/>
            <a:ext cx="4854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Ближайшая матрица по норме Фробениуса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A6A2FC-F430-2857-8922-6993F139C73B}"/>
                  </a:ext>
                </a:extLst>
              </p:cNvPr>
              <p:cNvSpPr txBox="1"/>
              <p:nvPr/>
            </p:nvSpPr>
            <p:spPr>
              <a:xfrm>
                <a:off x="7146113" y="2628544"/>
                <a:ext cx="1094530" cy="3219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A6A2FC-F430-2857-8922-6993F139C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6113" y="2628544"/>
                <a:ext cx="1094530" cy="321948"/>
              </a:xfrm>
              <a:prstGeom prst="rect">
                <a:avLst/>
              </a:prstGeom>
              <a:blipFill>
                <a:blip r:embed="rId3"/>
                <a:stretch>
                  <a:fillRect r="-3333" b="-264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17B0CE-2861-4A45-E0CF-9E30A05710E3}"/>
                  </a:ext>
                </a:extLst>
              </p:cNvPr>
              <p:cNvSpPr txBox="1"/>
              <p:nvPr/>
            </p:nvSpPr>
            <p:spPr>
              <a:xfrm>
                <a:off x="857955" y="3888349"/>
                <a:ext cx="28885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𝑑𝑖𝑎𝑔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17B0CE-2861-4A45-E0CF-9E30A0571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55" y="3888349"/>
                <a:ext cx="2888548" cy="276999"/>
              </a:xfrm>
              <a:prstGeom prst="rect">
                <a:avLst/>
              </a:prstGeom>
              <a:blipFill>
                <a:blip r:embed="rId4"/>
                <a:stretch>
                  <a:fillRect l="-1477" t="-2222" b="-3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FEEFE3-D994-F39A-993F-C54A272F1B6D}"/>
                  </a:ext>
                </a:extLst>
              </p:cNvPr>
              <p:cNvSpPr txBox="1"/>
              <p:nvPr/>
            </p:nvSpPr>
            <p:spPr>
              <a:xfrm>
                <a:off x="857955" y="4309707"/>
                <a:ext cx="13289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FEEFE3-D994-F39A-993F-C54A272F1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55" y="4309707"/>
                <a:ext cx="1328954" cy="276999"/>
              </a:xfrm>
              <a:prstGeom prst="rect">
                <a:avLst/>
              </a:prstGeom>
              <a:blipFill>
                <a:blip r:embed="rId5"/>
                <a:stretch>
                  <a:fillRect l="-2294" r="-917" b="-1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52E446-EA49-CE13-A907-5A6E72DD6D20}"/>
                  </a:ext>
                </a:extLst>
              </p:cNvPr>
              <p:cNvSpPr txBox="1"/>
              <p:nvPr/>
            </p:nvSpPr>
            <p:spPr>
              <a:xfrm>
                <a:off x="5352095" y="3804852"/>
                <a:ext cx="28885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𝑑𝑖𝑎𝑔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52E446-EA49-CE13-A907-5A6E72DD6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095" y="3804852"/>
                <a:ext cx="2888548" cy="276999"/>
              </a:xfrm>
              <a:prstGeom prst="rect">
                <a:avLst/>
              </a:prstGeom>
              <a:blipFill>
                <a:blip r:embed="rId6"/>
                <a:stretch>
                  <a:fillRect l="-1477" t="-2174" b="-326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DC498E1-B131-C235-87AF-72084BDAD713}"/>
                  </a:ext>
                </a:extLst>
              </p:cNvPr>
              <p:cNvSpPr txBox="1"/>
              <p:nvPr/>
            </p:nvSpPr>
            <p:spPr>
              <a:xfrm>
                <a:off x="5352095" y="4238148"/>
                <a:ext cx="1217385" cy="5013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DC498E1-B131-C235-87AF-72084BDAD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095" y="4238148"/>
                <a:ext cx="1217385" cy="5013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1ED4CB7-04B3-04B7-23F4-1F10DB043278}"/>
                  </a:ext>
                </a:extLst>
              </p:cNvPr>
              <p:cNvSpPr txBox="1"/>
              <p:nvPr/>
            </p:nvSpPr>
            <p:spPr>
              <a:xfrm>
                <a:off x="838200" y="5218637"/>
                <a:ext cx="112324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На деле, так как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определена с точностью до умножению на константу, то можно принять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</m:oMath>
                </a14:m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1ED4CB7-04B3-04B7-23F4-1F10DB043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18637"/>
                <a:ext cx="11232445" cy="369332"/>
              </a:xfrm>
              <a:prstGeom prst="rect">
                <a:avLst/>
              </a:prstGeom>
              <a:blipFill>
                <a:blip r:embed="rId8"/>
                <a:stretch>
                  <a:fillRect l="-489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D0B4F551-F341-A71A-0FBB-5E17CB04D630}"/>
              </a:ext>
            </a:extLst>
          </p:cNvPr>
          <p:cNvCxnSpPr/>
          <p:nvPr/>
        </p:nvCxnSpPr>
        <p:spPr>
          <a:xfrm>
            <a:off x="4131733" y="4238148"/>
            <a:ext cx="9595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D66F3DE-2C31-0E4E-95B9-9AF495D69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80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5BAEB-72FC-1F03-5E0C-B60D2365C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1485A-85CC-D262-197E-364913CF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Eight-Point Algorithm (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Longuet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-Higgins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’81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540AB16-9A19-B523-10AE-93F27428253B}"/>
                  </a:ext>
                </a:extLst>
              </p:cNvPr>
              <p:cNvSpPr txBox="1"/>
              <p:nvPr/>
            </p:nvSpPr>
            <p:spPr>
              <a:xfrm>
                <a:off x="738311" y="1685271"/>
                <a:ext cx="106527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Дан набор лучей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≥8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Эти 3D лучи получены путем обратной проекции 2D фич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540AB16-9A19-B523-10AE-93F274282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11" y="1685271"/>
                <a:ext cx="10652760" cy="369332"/>
              </a:xfrm>
              <a:prstGeom prst="rect">
                <a:avLst/>
              </a:prstGeom>
              <a:blipFill>
                <a:blip r:embed="rId2"/>
                <a:stretch>
                  <a:fillRect l="-458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3A965E-938A-E092-248E-3A69A0B8D188}"/>
                  </a:ext>
                </a:extLst>
              </p:cNvPr>
              <p:cNvSpPr txBox="1"/>
              <p:nvPr/>
            </p:nvSpPr>
            <p:spPr>
              <a:xfrm>
                <a:off x="6872316" y="3699738"/>
                <a:ext cx="28885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𝑑𝑖𝑎𝑔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3A965E-938A-E092-248E-3A69A0B8D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316" y="3699738"/>
                <a:ext cx="2888548" cy="276999"/>
              </a:xfrm>
              <a:prstGeom prst="rect">
                <a:avLst/>
              </a:prstGeom>
              <a:blipFill>
                <a:blip r:embed="rId3"/>
                <a:stretch>
                  <a:fillRect l="-1266" t="-2222" b="-3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F338159-4230-BDA2-6233-DD1727C5EDAF}"/>
                  </a:ext>
                </a:extLst>
              </p:cNvPr>
              <p:cNvSpPr txBox="1"/>
              <p:nvPr/>
            </p:nvSpPr>
            <p:spPr>
              <a:xfrm>
                <a:off x="6872316" y="4121096"/>
                <a:ext cx="13289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F338159-4230-BDA2-6233-DD1727C5E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316" y="4121096"/>
                <a:ext cx="1328954" cy="276999"/>
              </a:xfrm>
              <a:prstGeom prst="rect">
                <a:avLst/>
              </a:prstGeom>
              <a:blipFill>
                <a:blip r:embed="rId4"/>
                <a:stretch>
                  <a:fillRect l="-2294" r="-917" b="-1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D9ED7A-7D2E-77BA-5C46-D98696E3C48D}"/>
                  </a:ext>
                </a:extLst>
              </p:cNvPr>
              <p:cNvSpPr txBox="1"/>
              <p:nvPr/>
            </p:nvSpPr>
            <p:spPr>
              <a:xfrm>
                <a:off x="9704419" y="3978151"/>
                <a:ext cx="24742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𝑑𝑖𝑎𝑔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D9ED7A-7D2E-77BA-5C46-D98696E3C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419" y="3978151"/>
                <a:ext cx="2474203" cy="276999"/>
              </a:xfrm>
              <a:prstGeom prst="rect">
                <a:avLst/>
              </a:prstGeom>
              <a:blipFill>
                <a:blip r:embed="rId5"/>
                <a:stretch>
                  <a:fillRect l="-1970" t="-4444" r="-246" b="-3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3129B27-403A-0EF3-6B2F-BF2B4BC0D019}"/>
                  </a:ext>
                </a:extLst>
              </p:cNvPr>
              <p:cNvSpPr txBox="1"/>
              <p:nvPr/>
            </p:nvSpPr>
            <p:spPr>
              <a:xfrm>
                <a:off x="738311" y="5102783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Восстанавливаем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𝑹</m:t>
                    </m:r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𝑻</m:t>
                    </m:r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из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𝑬</m:t>
                    </m:r>
                  </m:oMath>
                </a14:m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3129B27-403A-0EF3-6B2F-BF2B4BC0D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11" y="5102783"/>
                <a:ext cx="6096000" cy="369332"/>
              </a:xfrm>
              <a:prstGeom prst="rect">
                <a:avLst/>
              </a:prstGeom>
              <a:blipFill>
                <a:blip r:embed="rId6"/>
                <a:stretch>
                  <a:fillRect l="-800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9EA3836-55EA-737B-F39A-4645CB678C7E}"/>
              </a:ext>
            </a:extLst>
          </p:cNvPr>
          <p:cNvSpPr txBox="1"/>
          <p:nvPr/>
        </p:nvSpPr>
        <p:spPr>
          <a:xfrm>
            <a:off x="738311" y="2167731"/>
            <a:ext cx="32286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Посчитать приближение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существенной матрицы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7C0E82-082C-1C4D-6922-C7B933933F0F}"/>
              </a:ext>
            </a:extLst>
          </p:cNvPr>
          <p:cNvSpPr txBox="1"/>
          <p:nvPr/>
        </p:nvSpPr>
        <p:spPr>
          <a:xfrm>
            <a:off x="6834311" y="3274332"/>
            <a:ext cx="5256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Ищем ближайшую существенную матрицу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AC731F-C751-91CB-0665-9EB226DB2678}"/>
                  </a:ext>
                </a:extLst>
              </p:cNvPr>
              <p:cNvSpPr txBox="1"/>
              <p:nvPr/>
            </p:nvSpPr>
            <p:spPr>
              <a:xfrm>
                <a:off x="838200" y="3008167"/>
                <a:ext cx="61232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AC731F-C751-91CB-0665-9EB226DB2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08167"/>
                <a:ext cx="6123215" cy="276999"/>
              </a:xfrm>
              <a:prstGeom prst="rect">
                <a:avLst/>
              </a:prstGeom>
              <a:blipFill>
                <a:blip r:embed="rId7"/>
                <a:stretch>
                  <a:fillRect l="-996" b="-239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9FB749-95F8-ABE8-3D9B-52434022A5C8}"/>
                  </a:ext>
                </a:extLst>
              </p:cNvPr>
              <p:cNvSpPr txBox="1"/>
              <p:nvPr/>
            </p:nvSpPr>
            <p:spPr>
              <a:xfrm>
                <a:off x="838200" y="3857727"/>
                <a:ext cx="9240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</a:t>
                </a:r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9FB749-95F8-ABE8-3D9B-52434022A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57727"/>
                <a:ext cx="924099" cy="276999"/>
              </a:xfrm>
              <a:prstGeom prst="rect">
                <a:avLst/>
              </a:prstGeom>
              <a:blipFill>
                <a:blip r:embed="rId8"/>
                <a:stretch>
                  <a:fillRect l="-9272" t="-28889" r="-15232" b="-5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38B541-9EE0-6304-3066-715AFB168369}"/>
                  </a:ext>
                </a:extLst>
              </p:cNvPr>
              <p:cNvSpPr txBox="1"/>
              <p:nvPr/>
            </p:nvSpPr>
            <p:spPr>
              <a:xfrm>
                <a:off x="838200" y="3436742"/>
                <a:ext cx="20569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38B541-9EE0-6304-3066-715AFB168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36742"/>
                <a:ext cx="2056973" cy="276999"/>
              </a:xfrm>
              <a:prstGeom prst="rect">
                <a:avLst/>
              </a:prstGeom>
              <a:blipFill>
                <a:blip r:embed="rId9"/>
                <a:stretch>
                  <a:fillRect l="-4154" t="-2222" b="-2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C700A5-0472-938A-63E2-61710072AB4F}"/>
                  </a:ext>
                </a:extLst>
              </p:cNvPr>
              <p:cNvSpPr txBox="1"/>
              <p:nvPr/>
            </p:nvSpPr>
            <p:spPr>
              <a:xfrm>
                <a:off x="1934420" y="3842626"/>
                <a:ext cx="1713867" cy="307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𝑆𝑉𝐷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C700A5-0472-938A-63E2-61710072A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420" y="3842626"/>
                <a:ext cx="1713867" cy="307200"/>
              </a:xfrm>
              <a:prstGeom prst="rect">
                <a:avLst/>
              </a:prstGeom>
              <a:blipFill>
                <a:blip r:embed="rId10"/>
                <a:stretch>
                  <a:fillRect l="-4626" b="-196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2437EE8-D71B-1944-F6FD-EB594D338EDB}"/>
                  </a:ext>
                </a:extLst>
              </p:cNvPr>
              <p:cNvSpPr txBox="1"/>
              <p:nvPr/>
            </p:nvSpPr>
            <p:spPr>
              <a:xfrm>
                <a:off x="3786311" y="3838238"/>
                <a:ext cx="2852640" cy="3015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ru-RU" dirty="0"/>
                  <a:t>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– последний столбец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2437EE8-D71B-1944-F6FD-EB594D338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311" y="3838238"/>
                <a:ext cx="2852640" cy="301557"/>
              </a:xfrm>
              <a:prstGeom prst="rect">
                <a:avLst/>
              </a:prstGeom>
              <a:blipFill>
                <a:blip r:embed="rId11"/>
                <a:stretch>
                  <a:fillRect l="-2778" t="-26531" r="-641" b="-387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B7B6E3-C0D0-862A-F6F3-9FE5762971B7}"/>
                  </a:ext>
                </a:extLst>
              </p:cNvPr>
              <p:cNvSpPr txBox="1"/>
              <p:nvPr/>
            </p:nvSpPr>
            <p:spPr>
              <a:xfrm>
                <a:off x="838200" y="4308514"/>
                <a:ext cx="48624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ru-RU" dirty="0"/>
                  <a:t>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– превращаем из вектор 9 в матрицу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×3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B7B6E3-C0D0-862A-F6F3-9FE576297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08514"/>
                <a:ext cx="4862421" cy="276999"/>
              </a:xfrm>
              <a:prstGeom prst="rect">
                <a:avLst/>
              </a:prstGeom>
              <a:blipFill>
                <a:blip r:embed="rId12"/>
                <a:stretch>
                  <a:fillRect l="-1757" t="-31111" r="-753" b="-4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3924D0-A68F-DC87-902F-5F89BFEC522E}"/>
                  </a:ext>
                </a:extLst>
              </p:cNvPr>
              <p:cNvSpPr txBox="1"/>
              <p:nvPr/>
            </p:nvSpPr>
            <p:spPr>
              <a:xfrm>
                <a:off x="823131" y="5690481"/>
                <a:ext cx="1854354" cy="414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,</a:t>
                </a:r>
                <a:endParaRPr lang="ru-R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3924D0-A68F-DC87-902F-5F89BFEC5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131" y="5690481"/>
                <a:ext cx="1854354" cy="414537"/>
              </a:xfrm>
              <a:prstGeom prst="rect">
                <a:avLst/>
              </a:prstGeom>
              <a:blipFill>
                <a:blip r:embed="rId13"/>
                <a:stretch>
                  <a:fillRect l="-4276" t="-1471" r="-6908" b="-191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CA404B-D7E6-3EDF-C0C4-7CFBDC91F596}"/>
                  </a:ext>
                </a:extLst>
              </p:cNvPr>
              <p:cNvSpPr txBox="1"/>
              <p:nvPr/>
            </p:nvSpPr>
            <p:spPr>
              <a:xfrm>
                <a:off x="2911602" y="5652842"/>
                <a:ext cx="1991827" cy="489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CA404B-D7E6-3EDF-C0C4-7CFBDC91F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602" y="5652842"/>
                <a:ext cx="1991827" cy="48981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BE7343-DF8F-4119-47DA-4C2436B752BB}"/>
                  </a:ext>
                </a:extLst>
              </p:cNvPr>
              <p:cNvSpPr txBox="1"/>
              <p:nvPr/>
            </p:nvSpPr>
            <p:spPr>
              <a:xfrm>
                <a:off x="4695106" y="5479936"/>
                <a:ext cx="3904453" cy="846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∓1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BE7343-DF8F-4119-47DA-4C2436B75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106" y="5479936"/>
                <a:ext cx="3904453" cy="84696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20E637BA-0B2A-3D61-B916-9D4F35F267E8}"/>
              </a:ext>
            </a:extLst>
          </p:cNvPr>
          <p:cNvSpPr txBox="1"/>
          <p:nvPr/>
        </p:nvSpPr>
        <p:spPr>
          <a:xfrm>
            <a:off x="8287547" y="5484245"/>
            <a:ext cx="39044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Только одно из этих 4x решений даст адекватное положение точек при триангуляции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2DB98647-67F4-D6CA-8FC1-476E4AEDB19E}"/>
              </a:ext>
            </a:extLst>
          </p:cNvPr>
          <p:cNvCxnSpPr/>
          <p:nvPr/>
        </p:nvCxnSpPr>
        <p:spPr>
          <a:xfrm>
            <a:off x="9313333" y="4121096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олилиния: фигура 16">
            <a:extLst>
              <a:ext uri="{FF2B5EF4-FFF2-40B4-BE49-F238E27FC236}">
                <a16:creationId xmlns:a16="http://schemas.microsoft.com/office/drawing/2014/main" id="{4C3F5B7E-4810-ACC1-46F4-1780EE323B10}"/>
              </a:ext>
            </a:extLst>
          </p:cNvPr>
          <p:cNvSpPr/>
          <p:nvPr/>
        </p:nvSpPr>
        <p:spPr>
          <a:xfrm>
            <a:off x="3643648" y="2377769"/>
            <a:ext cx="3276949" cy="1025535"/>
          </a:xfrm>
          <a:custGeom>
            <a:avLst/>
            <a:gdLst>
              <a:gd name="connsiteX0" fmla="*/ 0 w 2847372"/>
              <a:gd name="connsiteY0" fmla="*/ 108345 h 1045895"/>
              <a:gd name="connsiteX1" fmla="*/ 2002420 w 2847372"/>
              <a:gd name="connsiteY1" fmla="*/ 85196 h 1045895"/>
              <a:gd name="connsiteX2" fmla="*/ 2847372 w 2847372"/>
              <a:gd name="connsiteY2" fmla="*/ 1045895 h 1045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47372" h="1045895">
                <a:moveTo>
                  <a:pt x="0" y="108345"/>
                </a:moveTo>
                <a:cubicBezTo>
                  <a:pt x="763929" y="18641"/>
                  <a:pt x="1527858" y="-71062"/>
                  <a:pt x="2002420" y="85196"/>
                </a:cubicBezTo>
                <a:cubicBezTo>
                  <a:pt x="2476982" y="241454"/>
                  <a:pt x="2725838" y="951369"/>
                  <a:pt x="2847372" y="1045895"/>
                </a:cubicBezTo>
              </a:path>
            </a:pathLst>
          </a:cu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олилиния: фигура 21">
            <a:extLst>
              <a:ext uri="{FF2B5EF4-FFF2-40B4-BE49-F238E27FC236}">
                <a16:creationId xmlns:a16="http://schemas.microsoft.com/office/drawing/2014/main" id="{0CF766C9-2D05-706A-BC23-B2A617EC3575}"/>
              </a:ext>
            </a:extLst>
          </p:cNvPr>
          <p:cNvSpPr/>
          <p:nvPr/>
        </p:nvSpPr>
        <p:spPr>
          <a:xfrm>
            <a:off x="4051139" y="3479271"/>
            <a:ext cx="2844436" cy="1854123"/>
          </a:xfrm>
          <a:custGeom>
            <a:avLst/>
            <a:gdLst>
              <a:gd name="connsiteX0" fmla="*/ 2801074 w 2801074"/>
              <a:gd name="connsiteY0" fmla="*/ 0 h 1849414"/>
              <a:gd name="connsiteX1" fmla="*/ 2488557 w 2801074"/>
              <a:gd name="connsiteY1" fmla="*/ 833377 h 1849414"/>
              <a:gd name="connsiteX2" fmla="*/ 1388962 w 2801074"/>
              <a:gd name="connsiteY2" fmla="*/ 1527858 h 1849414"/>
              <a:gd name="connsiteX3" fmla="*/ 0 w 2801074"/>
              <a:gd name="connsiteY3" fmla="*/ 1840374 h 1849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1074" h="1849414">
                <a:moveTo>
                  <a:pt x="2801074" y="0"/>
                </a:moveTo>
                <a:cubicBezTo>
                  <a:pt x="2762491" y="289367"/>
                  <a:pt x="2723909" y="578734"/>
                  <a:pt x="2488557" y="833377"/>
                </a:cubicBezTo>
                <a:cubicBezTo>
                  <a:pt x="2253205" y="1088020"/>
                  <a:pt x="1803721" y="1360025"/>
                  <a:pt x="1388962" y="1527858"/>
                </a:cubicBezTo>
                <a:cubicBezTo>
                  <a:pt x="974203" y="1695691"/>
                  <a:pt x="150471" y="1894389"/>
                  <a:pt x="0" y="1840374"/>
                </a:cubicBezTo>
              </a:path>
            </a:pathLst>
          </a:cu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55E07A47-4EF2-7DA5-C846-C62954C3E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373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Минимальные задачи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E3926-3446-A929-4507-89FD42DD47D8}"/>
              </a:ext>
            </a:extLst>
          </p:cNvPr>
          <p:cNvSpPr txBox="1"/>
          <p:nvPr/>
        </p:nvSpPr>
        <p:spPr>
          <a:xfrm>
            <a:off x="838200" y="26675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8 точечная задача – не минимальная.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8DEC9D-B882-E426-A394-8F3C86BEA6FE}"/>
              </a:ext>
            </a:extLst>
          </p:cNvPr>
          <p:cNvSpPr txBox="1"/>
          <p:nvPr/>
        </p:nvSpPr>
        <p:spPr>
          <a:xfrm>
            <a:off x="838200" y="38711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Примеры минимальных задач: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F4221F-5BF9-2C6A-B6A7-9AA31945B8BC}"/>
                  </a:ext>
                </a:extLst>
              </p:cNvPr>
              <p:cNvSpPr txBox="1"/>
              <p:nvPr/>
            </p:nvSpPr>
            <p:spPr>
              <a:xfrm>
                <a:off x="5336257" y="2667526"/>
                <a:ext cx="65024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5 степеней свободы – 3 степени свободы у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endParaRPr 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3 степени свободы 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, -1 степени свободы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𝑠𝑐𝑎𝑙𝑒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F4221F-5BF9-2C6A-B6A7-9AA31945B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6257" y="2667526"/>
                <a:ext cx="6502400" cy="646331"/>
              </a:xfrm>
              <a:prstGeom prst="rect">
                <a:avLst/>
              </a:prstGeom>
              <a:blipFill>
                <a:blip r:embed="rId2"/>
                <a:stretch>
                  <a:fillRect l="-750" t="-5660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97F004E-5C3D-72A3-2B75-4C36FA531E57}"/>
              </a:ext>
            </a:extLst>
          </p:cNvPr>
          <p:cNvSpPr txBox="1"/>
          <p:nvPr/>
        </p:nvSpPr>
        <p:spPr>
          <a:xfrm>
            <a:off x="5336257" y="38711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5-pt algorithm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relative pose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6-pt algorithm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relative pose and focal length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0D0FB86-ED21-A73C-49BF-3FADB73B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195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0D0419-DD97-12AF-6994-7E8B078B0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Много точек для минимальных задач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8A7518-13C0-855F-0FB1-BE065B6FE12D}"/>
              </a:ext>
            </a:extLst>
          </p:cNvPr>
          <p:cNvSpPr txBox="1"/>
          <p:nvPr/>
        </p:nvSpPr>
        <p:spPr>
          <a:xfrm>
            <a:off x="688622" y="1821724"/>
            <a:ext cx="6718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Что если мы нашли много матчей между изображениями,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но хотим использовать 5pt алгоритм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F05C6-858B-A861-4992-5DF176929746}"/>
              </a:ext>
            </a:extLst>
          </p:cNvPr>
          <p:cNvSpPr txBox="1"/>
          <p:nvPr/>
        </p:nvSpPr>
        <p:spPr>
          <a:xfrm>
            <a:off x="688622" y="2761734"/>
            <a:ext cx="3990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Метод наименьших квадратов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702ACC-3D15-9335-C4C3-AD83EBB7148F}"/>
              </a:ext>
            </a:extLst>
          </p:cNvPr>
          <p:cNvSpPr txBox="1"/>
          <p:nvPr/>
        </p:nvSpPr>
        <p:spPr>
          <a:xfrm>
            <a:off x="6172200" y="2761734"/>
            <a:ext cx="1365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RANSAC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FBD31C-B85E-0100-FBAF-A84C4064ACC1}"/>
              </a:ext>
            </a:extLst>
          </p:cNvPr>
          <p:cNvSpPr txBox="1"/>
          <p:nvPr/>
        </p:nvSpPr>
        <p:spPr>
          <a:xfrm>
            <a:off x="688622" y="5355146"/>
            <a:ext cx="508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Решить какую-нибудь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оптимизационную задачу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(примерно это мы сделали в 8pt алгоритме)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A9DA51-A627-072C-77C9-385F138F5E5C}"/>
              </a:ext>
            </a:extLst>
          </p:cNvPr>
          <p:cNvSpPr txBox="1"/>
          <p:nvPr/>
        </p:nvSpPr>
        <p:spPr>
          <a:xfrm>
            <a:off x="6172200" y="5355146"/>
            <a:ext cx="55202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Взять 5 случайных точек, посчитать R и T, посчитать количество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инлаеров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Продолжать так до тех пор, пока не найдется максимальное количество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инлаеров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9" name="Picture 69624">
            <a:extLst>
              <a:ext uri="{FF2B5EF4-FFF2-40B4-BE49-F238E27FC236}">
                <a16:creationId xmlns:a16="http://schemas.microsoft.com/office/drawing/2014/main" id="{07F268EA-7D1D-CBE4-0698-71BEA0609E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00" b="26509"/>
          <a:stretch>
            <a:fillRect/>
          </a:stretch>
        </p:blipFill>
        <p:spPr>
          <a:xfrm>
            <a:off x="688622" y="3114187"/>
            <a:ext cx="5153222" cy="2257839"/>
          </a:xfrm>
          <a:prstGeom prst="rect">
            <a:avLst/>
          </a:prstGeom>
        </p:spPr>
      </p:pic>
      <p:pic>
        <p:nvPicPr>
          <p:cNvPr id="20" name="Picture 69626">
            <a:extLst>
              <a:ext uri="{FF2B5EF4-FFF2-40B4-BE49-F238E27FC236}">
                <a16:creationId xmlns:a16="http://schemas.microsoft.com/office/drawing/2014/main" id="{AEAD7958-9705-CEEC-C568-A8E09AC472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9" b="24960"/>
          <a:stretch>
            <a:fillRect/>
          </a:stretch>
        </p:blipFill>
        <p:spPr>
          <a:xfrm>
            <a:off x="6172200" y="3114506"/>
            <a:ext cx="5910824" cy="225720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33335E-EAD6-4053-E34C-8ADA8EC7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34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0D0419-DD97-12AF-6994-7E8B078B0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Восстановление точек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4206BA-E7DC-547E-B7D5-CBD1F13640FB}"/>
                  </a:ext>
                </a:extLst>
              </p:cNvPr>
              <p:cNvSpPr txBox="1"/>
              <p:nvPr/>
            </p:nvSpPr>
            <p:spPr>
              <a:xfrm>
                <a:off x="321733" y="1606814"/>
                <a:ext cx="123782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Мы восстановили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, а из него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и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с точностью до </a:t>
                </a:r>
                <a:r>
                  <a:rPr lang="ru-RU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скейла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. Возвращаемся к набору точек (точнее, лучей).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4206BA-E7DC-547E-B7D5-CBD1F1364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33" y="1606814"/>
                <a:ext cx="12378266" cy="369332"/>
              </a:xfrm>
              <a:prstGeom prst="rect">
                <a:avLst/>
              </a:prstGeom>
              <a:blipFill>
                <a:blip r:embed="rId2"/>
                <a:stretch>
                  <a:fillRect l="-443" t="-10000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FAD936-7AB8-6274-B15A-92D4F01348DE}"/>
                  </a:ext>
                </a:extLst>
              </p:cNvPr>
              <p:cNvSpPr txBox="1"/>
              <p:nvPr/>
            </p:nvSpPr>
            <p:spPr>
              <a:xfrm>
                <a:off x="4301092" y="2188247"/>
                <a:ext cx="82295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добавляем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𝛾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как </a:t>
                </a:r>
                <a:r>
                  <a:rPr lang="ru-RU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скейл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, в остальном это просто трансформация точки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FAD936-7AB8-6274-B15A-92D4F0134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092" y="2188247"/>
                <a:ext cx="8229575" cy="369332"/>
              </a:xfrm>
              <a:prstGeom prst="rect">
                <a:avLst/>
              </a:prstGeom>
              <a:blipFill>
                <a:blip r:embed="rId3"/>
                <a:stretch>
                  <a:fillRect l="-667" t="-9836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6F1B5F-7766-11EF-84D6-E7A2DD6E95AE}"/>
                  </a:ext>
                </a:extLst>
              </p:cNvPr>
              <p:cNvSpPr txBox="1"/>
              <p:nvPr/>
            </p:nvSpPr>
            <p:spPr>
              <a:xfrm>
                <a:off x="4281944" y="2704356"/>
                <a:ext cx="6265332" cy="494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домножаем все на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</m:sup>
                        </m:sSubSup>
                      </m:e>
                    </m:acc>
                  </m:oMath>
                </a14:m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6F1B5F-7766-11EF-84D6-E7A2DD6E9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944" y="2704356"/>
                <a:ext cx="6265332" cy="494559"/>
              </a:xfrm>
              <a:prstGeom prst="rect">
                <a:avLst/>
              </a:prstGeom>
              <a:blipFill>
                <a:blip r:embed="rId4"/>
                <a:stretch>
                  <a:fillRect l="-778" b="-123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ADD6886-C57C-81A3-D3DD-E048A1865539}"/>
              </a:ext>
            </a:extLst>
          </p:cNvPr>
          <p:cNvSpPr txBox="1"/>
          <p:nvPr/>
        </p:nvSpPr>
        <p:spPr>
          <a:xfrm>
            <a:off x="4301092" y="3485889"/>
            <a:ext cx="635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превращаем в линейную систему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665AF7-B8AA-59A8-6747-E556597357A9}"/>
                  </a:ext>
                </a:extLst>
              </p:cNvPr>
              <p:cNvSpPr txBox="1"/>
              <p:nvPr/>
            </p:nvSpPr>
            <p:spPr>
              <a:xfrm>
                <a:off x="4301092" y="4121207"/>
                <a:ext cx="63951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вектор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𝜆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– это столбец из всех глубин и в конце </a:t>
                </a:r>
                <a:r>
                  <a:rPr lang="ru-RU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скейл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665AF7-B8AA-59A8-6747-E55659735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092" y="4121207"/>
                <a:ext cx="6395154" cy="369332"/>
              </a:xfrm>
              <a:prstGeom prst="rect">
                <a:avLst/>
              </a:prstGeom>
              <a:blipFill>
                <a:blip r:embed="rId5"/>
                <a:stretch>
                  <a:fillRect l="-858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96365C-6511-14AE-8876-3E64F668E93D}"/>
                  </a:ext>
                </a:extLst>
              </p:cNvPr>
              <p:cNvSpPr txBox="1"/>
              <p:nvPr/>
            </p:nvSpPr>
            <p:spPr>
              <a:xfrm>
                <a:off x="7618881" y="4837769"/>
                <a:ext cx="4408019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Для всех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точек образуется система.</a:t>
                </a:r>
              </a:p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Решается она уже знакомым образом,</a:t>
                </a:r>
              </a:p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через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SVD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𝜆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последний столбец</a:t>
                </a:r>
              </a:p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в матрице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разложения SVD).</a:t>
                </a:r>
              </a:p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Вектор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𝜆</m:t>
                    </m:r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определен с точностью</a:t>
                </a:r>
              </a:p>
              <a:p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до глобального </a:t>
                </a:r>
                <a:r>
                  <a:rPr lang="ru-RU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скейла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96365C-6511-14AE-8876-3E64F668E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8881" y="4837769"/>
                <a:ext cx="4408019" cy="1754326"/>
              </a:xfrm>
              <a:prstGeom prst="rect">
                <a:avLst/>
              </a:prstGeom>
              <a:blipFill>
                <a:blip r:embed="rId6"/>
                <a:stretch>
                  <a:fillRect l="-1245" t="-2091" b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DA82FC0-B35D-8735-80BF-A2C10EB26BD5}"/>
                  </a:ext>
                </a:extLst>
              </p:cNvPr>
              <p:cNvSpPr txBox="1"/>
              <p:nvPr/>
            </p:nvSpPr>
            <p:spPr>
              <a:xfrm>
                <a:off x="321733" y="2201956"/>
                <a:ext cx="3565784" cy="3370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sSubSup>
                        <m:sSub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=1,…,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DA82FC0-B35D-8735-80BF-A2C10EB26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33" y="2201956"/>
                <a:ext cx="3565784" cy="337080"/>
              </a:xfrm>
              <a:prstGeom prst="rect">
                <a:avLst/>
              </a:prstGeom>
              <a:blipFill>
                <a:blip r:embed="rId7"/>
                <a:stretch>
                  <a:fillRect l="-1197" b="-2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0885D1A-2690-BC63-A061-62A05561732F}"/>
                  </a:ext>
                </a:extLst>
              </p:cNvPr>
              <p:cNvSpPr txBox="1"/>
              <p:nvPr/>
            </p:nvSpPr>
            <p:spPr>
              <a:xfrm>
                <a:off x="321733" y="2759920"/>
                <a:ext cx="3764236" cy="394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sSubSup>
                        <m:sSub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Sup>
                                <m:sSubSup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acc>
                        <m:accPr>
                          <m:chr m:val="̂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=1,…,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0885D1A-2690-BC63-A061-62A055617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33" y="2759920"/>
                <a:ext cx="3764236" cy="3945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BB5E7A0-316E-A7CF-53E9-5A65B3A95813}"/>
                  </a:ext>
                </a:extLst>
              </p:cNvPr>
              <p:cNvSpPr txBox="1"/>
              <p:nvPr/>
            </p:nvSpPr>
            <p:spPr>
              <a:xfrm>
                <a:off x="321733" y="3352080"/>
                <a:ext cx="3979359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Sup>
                                    <m:sSub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=1,…,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BB5E7A0-316E-A7CF-53E9-5A65B3A95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33" y="3352080"/>
                <a:ext cx="3979359" cy="6223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E514B50-179A-954D-DC22-528735EAFAEA}"/>
                  </a:ext>
                </a:extLst>
              </p:cNvPr>
              <p:cNvSpPr txBox="1"/>
              <p:nvPr/>
            </p:nvSpPr>
            <p:spPr>
              <a:xfrm>
                <a:off x="428978" y="4171995"/>
                <a:ext cx="2944652" cy="3186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E514B50-179A-954D-DC22-528735EAF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78" y="4171995"/>
                <a:ext cx="2944652" cy="318677"/>
              </a:xfrm>
              <a:prstGeom prst="rect">
                <a:avLst/>
              </a:prstGeom>
              <a:blipFill>
                <a:blip r:embed="rId10"/>
                <a:stretch>
                  <a:fillRect l="-1449" t="-41509" r="-207" b="-188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1549CF-33A8-1EE7-1E52-E2EA0ECBFC40}"/>
                  </a:ext>
                </a:extLst>
              </p:cNvPr>
              <p:cNvSpPr txBox="1"/>
              <p:nvPr/>
            </p:nvSpPr>
            <p:spPr>
              <a:xfrm>
                <a:off x="433441" y="5555914"/>
                <a:ext cx="809517" cy="318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1549CF-33A8-1EE7-1E52-E2EA0ECBF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41" y="5555914"/>
                <a:ext cx="809517" cy="318036"/>
              </a:xfrm>
              <a:prstGeom prst="rect">
                <a:avLst/>
              </a:prstGeom>
              <a:blipFill>
                <a:blip r:embed="rId11"/>
                <a:stretch>
                  <a:fillRect l="-6015" t="-41509" r="-6767" b="-56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5180E8-130C-17F5-8B16-816577BCB559}"/>
                  </a:ext>
                </a:extLst>
              </p:cNvPr>
              <p:cNvSpPr txBox="1"/>
              <p:nvPr/>
            </p:nvSpPr>
            <p:spPr>
              <a:xfrm>
                <a:off x="1619220" y="4887439"/>
                <a:ext cx="5743624" cy="1655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Sup>
                                          <m:sSubSup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 i="0">
                                                <a:latin typeface="Cambria Math" panose="02040503050406030204" pitchFamily="18" charset="0"/>
                                              </a:rPr>
                                              <m:t>𝐱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bSup>
                                      </m:e>
                                    </m:acc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Sup>
                                      <m:sSub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0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Sup>
                                          <m:sSubSup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 i="0">
                                                <a:latin typeface="Cambria Math" panose="02040503050406030204" pitchFamily="18" charset="0"/>
                                              </a:rPr>
                                              <m:t>𝐱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acc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Sup>
                                      <m:sSub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0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Sup>
                                          <m:sSubSup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 i="0">
                                                <a:latin typeface="Cambria Math" panose="02040503050406030204" pitchFamily="18" charset="0"/>
                                              </a:rPr>
                                              <m:t>𝐱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p>
                                        </m:sSubSup>
                                      </m:e>
                                    </m:acc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Sup>
                                      <m:sSub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0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bSup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Sup>
                                          <m:sSubSup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 i="0">
                                                <a:latin typeface="Cambria Math" panose="02040503050406030204" pitchFamily="18" charset="0"/>
                                              </a:rPr>
                                              <m:t>𝐱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</m:sSubSup>
                                      </m:e>
                                    </m:acc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Sup>
                                      <m:sSub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0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bSup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5180E8-130C-17F5-8B16-816577BCB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20" y="4887439"/>
                <a:ext cx="5743624" cy="165539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0759401-1333-4B3B-A4CC-50579A79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35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4A3602E5-8F1C-DFB6-A2E1-59239B5D8B31}"/>
              </a:ext>
            </a:extLst>
          </p:cNvPr>
          <p:cNvSpPr txBox="1"/>
          <p:nvPr/>
        </p:nvSpPr>
        <p:spPr>
          <a:xfrm>
            <a:off x="8098559" y="6120262"/>
            <a:ext cx="4152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Восстановление глубины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из стереопары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0D0419-DD97-12AF-6994-7E8B078B0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стереокамера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64887F-DCCA-020C-AB32-5682247DEF89}"/>
                  </a:ext>
                </a:extLst>
              </p:cNvPr>
              <p:cNvSpPr txBox="1"/>
              <p:nvPr/>
            </p:nvSpPr>
            <p:spPr>
              <a:xfrm>
                <a:off x="1021644" y="1936044"/>
                <a:ext cx="3081420" cy="1034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64887F-DCCA-020C-AB32-5682247DE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44" y="1936044"/>
                <a:ext cx="3081420" cy="10346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584C8B-D7C7-E23C-53FC-B1BBC0470018}"/>
                  </a:ext>
                </a:extLst>
              </p:cNvPr>
              <p:cNvSpPr txBox="1"/>
              <p:nvPr/>
            </p:nvSpPr>
            <p:spPr>
              <a:xfrm>
                <a:off x="358140" y="6135779"/>
                <a:ext cx="3379164" cy="615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brk m:alnAt="7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584C8B-D7C7-E23C-53FC-B1BBC0470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" y="6135779"/>
                <a:ext cx="3379164" cy="6152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D2F676-279D-8F8F-1BDE-04CD957163C2}"/>
                  </a:ext>
                </a:extLst>
              </p:cNvPr>
              <p:cNvSpPr txBox="1"/>
              <p:nvPr/>
            </p:nvSpPr>
            <p:spPr>
              <a:xfrm>
                <a:off x="4446270" y="6110323"/>
                <a:ext cx="3829050" cy="66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𝑏𝑎𝑠𝑒𝑙𝑖𝑛𝑒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𝑓𝑜𝑐𝑎𝑙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𝑑𝑖𝑠𝑝𝑎𝑟𝑖𝑡𝑦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D2F676-279D-8F8F-1BDE-04CD95716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270" y="6110323"/>
                <a:ext cx="3829050" cy="6662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73AAE6E-5B59-2052-7E38-793184813047}"/>
              </a:ext>
            </a:extLst>
          </p:cNvPr>
          <p:cNvSpPr txBox="1"/>
          <p:nvPr/>
        </p:nvSpPr>
        <p:spPr>
          <a:xfrm>
            <a:off x="-7020" y="5539362"/>
            <a:ext cx="16958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Координаты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пикселя слева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130675-A879-599C-229A-9B342B4C9C60}"/>
              </a:ext>
            </a:extLst>
          </p:cNvPr>
          <p:cNvSpPr txBox="1"/>
          <p:nvPr/>
        </p:nvSpPr>
        <p:spPr>
          <a:xfrm>
            <a:off x="1452461" y="5539362"/>
            <a:ext cx="26506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Unproject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пикселя слева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849C17-3344-2947-798F-991AA5BCADE9}"/>
              </a:ext>
            </a:extLst>
          </p:cNvPr>
          <p:cNvSpPr txBox="1"/>
          <p:nvPr/>
        </p:nvSpPr>
        <p:spPr>
          <a:xfrm>
            <a:off x="3737304" y="5539362"/>
            <a:ext cx="1272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Луч от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пикселя слева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CBBC57-097A-A9BE-D492-7C4A186CFAC1}"/>
              </a:ext>
            </a:extLst>
          </p:cNvPr>
          <p:cNvSpPr txBox="1"/>
          <p:nvPr/>
        </p:nvSpPr>
        <p:spPr>
          <a:xfrm>
            <a:off x="5070708" y="5539362"/>
            <a:ext cx="1599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3D точка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в левой камере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882728-CDBC-1623-C836-5EACFA0BBF4A}"/>
              </a:ext>
            </a:extLst>
          </p:cNvPr>
          <p:cNvSpPr txBox="1"/>
          <p:nvPr/>
        </p:nvSpPr>
        <p:spPr>
          <a:xfrm>
            <a:off x="6528265" y="5539362"/>
            <a:ext cx="28126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3D точка в правой камере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0AB0C0-7352-75E5-FEFD-392F2B9A4404}"/>
              </a:ext>
            </a:extLst>
          </p:cNvPr>
          <p:cNvSpPr txBox="1"/>
          <p:nvPr/>
        </p:nvSpPr>
        <p:spPr>
          <a:xfrm>
            <a:off x="10506907" y="5539362"/>
            <a:ext cx="2419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3D точка в правой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камере через пиксель</a:t>
            </a:r>
          </a:p>
        </p:txBody>
      </p:sp>
      <p:pic>
        <p:nvPicPr>
          <p:cNvPr id="5" name="Рисунок 4" descr="Изображение выглядит как зарисовка, рисунок, искусство, черно-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25E3CA-C994-EC2D-D8CD-9247801053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72"/>
          <a:stretch>
            <a:fillRect/>
          </a:stretch>
        </p:blipFill>
        <p:spPr>
          <a:xfrm>
            <a:off x="6752005" y="0"/>
            <a:ext cx="4903497" cy="44243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DEF88-098C-830F-2E67-DDE39EAC0432}"/>
                  </a:ext>
                </a:extLst>
              </p:cNvPr>
              <p:cNvSpPr txBox="1"/>
              <p:nvPr/>
            </p:nvSpPr>
            <p:spPr>
              <a:xfrm>
                <a:off x="-944966" y="4128844"/>
                <a:ext cx="14081932" cy="12782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ru-RU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ru-RU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ru-RU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ru-RU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ru-RU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ru-RU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ru-RU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𝑟𝑖𝑔h𝑡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DEF88-098C-830F-2E67-DDE39EAC0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44966" y="4128844"/>
                <a:ext cx="14081932" cy="1278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8E47C9-E8EA-6E83-B7E2-BA663C0FD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616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9CB20-ADA9-D86C-3EB4-239ABDEDE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B7292ACF-A362-7B5F-EC63-EF8372196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Фундаментальная матрица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E08D34-4D16-5330-E413-A04A6E9C66A0}"/>
                  </a:ext>
                </a:extLst>
              </p:cNvPr>
              <p:cNvSpPr txBox="1"/>
              <p:nvPr/>
            </p:nvSpPr>
            <p:spPr>
              <a:xfrm>
                <a:off x="527437" y="2351478"/>
                <a:ext cx="5874942" cy="3052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acc>
                        <m:accPr>
                          <m:chr m:val="̂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E08D34-4D16-5330-E413-A04A6E9C6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37" y="2351478"/>
                <a:ext cx="5874942" cy="305212"/>
              </a:xfrm>
              <a:prstGeom prst="rect">
                <a:avLst/>
              </a:prstGeom>
              <a:blipFill>
                <a:blip r:embed="rId2"/>
                <a:stretch>
                  <a:fillRect l="-1038" t="-12000" b="-16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B4746E-1157-5B0E-2F30-AC8F0F75A993}"/>
                  </a:ext>
                </a:extLst>
              </p:cNvPr>
              <p:cNvSpPr txBox="1"/>
              <p:nvPr/>
            </p:nvSpPr>
            <p:spPr>
              <a:xfrm>
                <a:off x="481153" y="3953546"/>
                <a:ext cx="1806222" cy="376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B4746E-1157-5B0E-2F30-AC8F0F75A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53" y="3953546"/>
                <a:ext cx="1806222" cy="3769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DAC602-7938-0A78-47A0-E19FCDDBCD02}"/>
                  </a:ext>
                </a:extLst>
              </p:cNvPr>
              <p:cNvSpPr txBox="1"/>
              <p:nvPr/>
            </p:nvSpPr>
            <p:spPr>
              <a:xfrm>
                <a:off x="481153" y="5499904"/>
                <a:ext cx="2891625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DAC602-7938-0A78-47A0-E19FCDDBC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53" y="5499904"/>
                <a:ext cx="2891625" cy="284437"/>
              </a:xfrm>
              <a:prstGeom prst="rect">
                <a:avLst/>
              </a:prstGeom>
              <a:blipFill>
                <a:blip r:embed="rId4"/>
                <a:stretch>
                  <a:fillRect l="-1477" t="-17021" r="-422" b="-85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8B055F7-EB82-1226-7F92-8D633262ED99}"/>
              </a:ext>
            </a:extLst>
          </p:cNvPr>
          <p:cNvSpPr txBox="1"/>
          <p:nvPr/>
        </p:nvSpPr>
        <p:spPr>
          <a:xfrm>
            <a:off x="446157" y="2967467"/>
            <a:ext cx="35568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Это луч, 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back-project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от фичи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7C138B-3CBC-5967-C204-91EC68EB08CE}"/>
              </a:ext>
            </a:extLst>
          </p:cNvPr>
          <p:cNvSpPr txBox="1"/>
          <p:nvPr/>
        </p:nvSpPr>
        <p:spPr>
          <a:xfrm>
            <a:off x="4041168" y="2967467"/>
            <a:ext cx="47616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Это 2D фича, в однородных координатах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3B4497-2CC4-8A4D-6E71-B3BC22828306}"/>
              </a:ext>
            </a:extLst>
          </p:cNvPr>
          <p:cNvSpPr txBox="1"/>
          <p:nvPr/>
        </p:nvSpPr>
        <p:spPr>
          <a:xfrm>
            <a:off x="481153" y="5008812"/>
            <a:ext cx="2557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Fundamental matrix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0111E0A-1399-18E7-3F00-FD76E5764AD1}"/>
                  </a:ext>
                </a:extLst>
              </p:cNvPr>
              <p:cNvSpPr txBox="1"/>
              <p:nvPr/>
            </p:nvSpPr>
            <p:spPr>
              <a:xfrm>
                <a:off x="4824069" y="4346255"/>
                <a:ext cx="5307607" cy="14380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0111E0A-1399-18E7-3F00-FD76E5764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069" y="4346255"/>
                <a:ext cx="5307607" cy="14380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1B0336-5D26-C352-30E4-57AA5181244D}"/>
                  </a:ext>
                </a:extLst>
              </p:cNvPr>
              <p:cNvSpPr txBox="1"/>
              <p:nvPr/>
            </p:nvSpPr>
            <p:spPr>
              <a:xfrm>
                <a:off x="8065910" y="6215876"/>
                <a:ext cx="4560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1B0336-5D26-C352-30E4-57AA51812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910" y="6215876"/>
                <a:ext cx="456022" cy="276999"/>
              </a:xfrm>
              <a:prstGeom prst="rect">
                <a:avLst/>
              </a:prstGeom>
              <a:blipFill>
                <a:blip r:embed="rId6"/>
                <a:stretch>
                  <a:fillRect l="-10667" t="-2222" r="-5333"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Рисунок 1" descr="Изображение выглядит как диаграмма, линия, рису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27016FC-10B7-06AC-F62E-87DE2ECD8B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819" y="1112130"/>
            <a:ext cx="3131659" cy="3131659"/>
          </a:xfrm>
          <a:prstGeom prst="rect">
            <a:avLst/>
          </a:prstGeom>
        </p:spPr>
      </p:pic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44D3260E-9D5E-216E-6289-A98D438D0049}"/>
              </a:ext>
            </a:extLst>
          </p:cNvPr>
          <p:cNvCxnSpPr/>
          <p:nvPr/>
        </p:nvCxnSpPr>
        <p:spPr>
          <a:xfrm flipH="1" flipV="1">
            <a:off x="701040" y="2656370"/>
            <a:ext cx="729508" cy="311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4C5FA2D-8D72-81DF-E8A7-9644949D85CC}"/>
              </a:ext>
            </a:extLst>
          </p:cNvPr>
          <p:cNvCxnSpPr/>
          <p:nvPr/>
        </p:nvCxnSpPr>
        <p:spPr>
          <a:xfrm flipH="1" flipV="1">
            <a:off x="1209040" y="2656370"/>
            <a:ext cx="221508" cy="311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C70F2A3D-3A50-A5EA-796B-D79CDC354CEB}"/>
              </a:ext>
            </a:extLst>
          </p:cNvPr>
          <p:cNvCxnSpPr>
            <a:cxnSpLocks/>
          </p:cNvCxnSpPr>
          <p:nvPr/>
        </p:nvCxnSpPr>
        <p:spPr>
          <a:xfrm flipH="1" flipV="1">
            <a:off x="4176643" y="2677959"/>
            <a:ext cx="1269117" cy="289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701D25AB-F64F-3C4B-CE94-772123E0FC9C}"/>
              </a:ext>
            </a:extLst>
          </p:cNvPr>
          <p:cNvCxnSpPr>
            <a:cxnSpLocks/>
          </p:cNvCxnSpPr>
          <p:nvPr/>
        </p:nvCxnSpPr>
        <p:spPr>
          <a:xfrm flipV="1">
            <a:off x="5445760" y="2677959"/>
            <a:ext cx="118029" cy="289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701F9B1E-FFF6-0BB8-E6F9-A8ACEF50CC05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7477872" y="5886807"/>
            <a:ext cx="588038" cy="467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8F90E6-ACA8-E0E6-470A-971CD6BF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346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191031C-8985-85C9-0056-AD178A3E8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Промежуточные итоги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E4E57-1591-CD0F-25FB-2C1FC83E12AD}"/>
              </a:ext>
            </a:extLst>
          </p:cNvPr>
          <p:cNvSpPr txBox="1"/>
          <p:nvPr/>
        </p:nvSpPr>
        <p:spPr>
          <a:xfrm>
            <a:off x="838200" y="176169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Подготовка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7A179B-6B27-0C25-9003-680BDACE9204}"/>
              </a:ext>
            </a:extLst>
          </p:cNvPr>
          <p:cNvSpPr txBox="1"/>
          <p:nvPr/>
        </p:nvSpPr>
        <p:spPr>
          <a:xfrm>
            <a:off x="5257800" y="174270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Калибруем камеру, получаем модель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камеры и модель ректификации.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D73758-3D44-42CC-737D-7F4318CF8ECC}"/>
              </a:ext>
            </a:extLst>
          </p:cNvPr>
          <p:cNvSpPr txBox="1"/>
          <p:nvPr/>
        </p:nvSpPr>
        <p:spPr>
          <a:xfrm>
            <a:off x="838200" y="269643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Простейшая реконструкция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ABC3AA-217C-FF39-DAD0-7C730B240B52}"/>
              </a:ext>
            </a:extLst>
          </p:cNvPr>
          <p:cNvSpPr txBox="1"/>
          <p:nvPr/>
        </p:nvSpPr>
        <p:spPr>
          <a:xfrm>
            <a:off x="5257800" y="2696432"/>
            <a:ext cx="76657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Приходит изображение 1, убираем дисторсию, находим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кейпоинты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Приходит изображение 2, убираем дисторсию, находим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кейпоинты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матчим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их с первым изображением.</a:t>
            </a: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Восстанавливаем R и T между изображениями.</a:t>
            </a: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Восстанавливаем глубины для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заматченных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точек.</a:t>
            </a: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 SLAM это иногда называют инициализация.</a:t>
            </a:r>
          </a:p>
        </p:txBody>
      </p:sp>
      <p:grpSp>
        <p:nvGrpSpPr>
          <p:cNvPr id="19" name="Group 68999">
            <a:extLst>
              <a:ext uri="{FF2B5EF4-FFF2-40B4-BE49-F238E27FC236}">
                <a16:creationId xmlns:a16="http://schemas.microsoft.com/office/drawing/2014/main" id="{BA2B065D-C9C8-DA4B-C2E2-7C8EAD7A98C4}"/>
              </a:ext>
            </a:extLst>
          </p:cNvPr>
          <p:cNvGrpSpPr/>
          <p:nvPr/>
        </p:nvGrpSpPr>
        <p:grpSpPr>
          <a:xfrm>
            <a:off x="838200" y="3225798"/>
            <a:ext cx="4166615" cy="3404615"/>
            <a:chOff x="-1523" y="-4571"/>
            <a:chExt cx="4166615" cy="3404615"/>
          </a:xfrm>
        </p:grpSpPr>
        <p:pic>
          <p:nvPicPr>
            <p:cNvPr id="20" name="Picture 69646">
              <a:extLst>
                <a:ext uri="{FF2B5EF4-FFF2-40B4-BE49-F238E27FC236}">
                  <a16:creationId xmlns:a16="http://schemas.microsoft.com/office/drawing/2014/main" id="{F489CB47-1871-7F8A-29D5-DE17340A8312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523492" y="1815084"/>
              <a:ext cx="1130808" cy="1584960"/>
            </a:xfrm>
            <a:prstGeom prst="rect">
              <a:avLst/>
            </a:prstGeom>
          </p:spPr>
        </p:pic>
        <p:pic>
          <p:nvPicPr>
            <p:cNvPr id="21" name="Picture 69647">
              <a:extLst>
                <a:ext uri="{FF2B5EF4-FFF2-40B4-BE49-F238E27FC236}">
                  <a16:creationId xmlns:a16="http://schemas.microsoft.com/office/drawing/2014/main" id="{6A345E12-C2C6-AA7B-FEF4-C3276914A29F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205228" y="-3555"/>
              <a:ext cx="1959864" cy="1478280"/>
            </a:xfrm>
            <a:prstGeom prst="rect">
              <a:avLst/>
            </a:prstGeom>
          </p:spPr>
        </p:pic>
        <p:pic>
          <p:nvPicPr>
            <p:cNvPr id="22" name="Picture 69648">
              <a:extLst>
                <a:ext uri="{FF2B5EF4-FFF2-40B4-BE49-F238E27FC236}">
                  <a16:creationId xmlns:a16="http://schemas.microsoft.com/office/drawing/2014/main" id="{BBF3B45F-2CD8-AF87-06D2-430DC873E82F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-1523" y="-4571"/>
              <a:ext cx="1969008" cy="1478280"/>
            </a:xfrm>
            <a:prstGeom prst="rect">
              <a:avLst/>
            </a:prstGeom>
          </p:spPr>
        </p:pic>
      </p:grp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7B52149-3A2A-9032-9C63-02447A814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295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7AA3EF4C-DAC8-CA69-8EFD-5C73B1AB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А что дальше?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B3ECA0-D71D-5EE6-5202-51BB27CF3D6E}"/>
              </a:ext>
            </a:extLst>
          </p:cNvPr>
          <p:cNvSpPr txBox="1"/>
          <p:nvPr/>
        </p:nvSpPr>
        <p:spPr>
          <a:xfrm>
            <a:off x="7468587" y="1783914"/>
            <a:ext cx="4625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R и T между Frame 1 и Frame 2, 3D точки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58EE96-5604-3D4F-9B60-7BEAAE4DD8C3}"/>
              </a:ext>
            </a:extLst>
          </p:cNvPr>
          <p:cNvSpPr txBox="1"/>
          <p:nvPr/>
        </p:nvSpPr>
        <p:spPr>
          <a:xfrm>
            <a:off x="6519122" y="1188931"/>
            <a:ext cx="232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 &amp; Frame 2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8678BB-91A2-9B16-7950-9843C8D0172F}"/>
              </a:ext>
            </a:extLst>
          </p:cNvPr>
          <p:cNvSpPr txBox="1"/>
          <p:nvPr/>
        </p:nvSpPr>
        <p:spPr>
          <a:xfrm>
            <a:off x="833755" y="6308209"/>
            <a:ext cx="330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&amp; Frame 2 &amp; Frame 3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69649">
            <a:extLst>
              <a:ext uri="{FF2B5EF4-FFF2-40B4-BE49-F238E27FC236}">
                <a16:creationId xmlns:a16="http://schemas.microsoft.com/office/drawing/2014/main" id="{2059BA93-8F4A-EA40-4D4C-5D21E393D6A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141470" y="2248959"/>
            <a:ext cx="3267075" cy="1706245"/>
          </a:xfrm>
          <a:prstGeom prst="rect">
            <a:avLst/>
          </a:prstGeom>
        </p:spPr>
      </p:pic>
      <p:pic>
        <p:nvPicPr>
          <p:cNvPr id="22" name="Picture 69650">
            <a:extLst>
              <a:ext uri="{FF2B5EF4-FFF2-40B4-BE49-F238E27FC236}">
                <a16:creationId xmlns:a16="http://schemas.microsoft.com/office/drawing/2014/main" id="{8A2E3346-524E-761D-11DF-C2225C98FD0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38200" y="2248959"/>
            <a:ext cx="3306445" cy="1706245"/>
          </a:xfrm>
          <a:prstGeom prst="rect">
            <a:avLst/>
          </a:prstGeom>
        </p:spPr>
      </p:pic>
      <p:pic>
        <p:nvPicPr>
          <p:cNvPr id="23" name="Picture 69651">
            <a:extLst>
              <a:ext uri="{FF2B5EF4-FFF2-40B4-BE49-F238E27FC236}">
                <a16:creationId xmlns:a16="http://schemas.microsoft.com/office/drawing/2014/main" id="{77C2EAC3-DB6F-260F-4FA2-652447A20DD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140200" y="3950124"/>
            <a:ext cx="3294380" cy="1718945"/>
          </a:xfrm>
          <a:prstGeom prst="rect">
            <a:avLst/>
          </a:prstGeom>
        </p:spPr>
      </p:pic>
      <p:pic>
        <p:nvPicPr>
          <p:cNvPr id="24" name="Picture 69652">
            <a:extLst>
              <a:ext uri="{FF2B5EF4-FFF2-40B4-BE49-F238E27FC236}">
                <a16:creationId xmlns:a16="http://schemas.microsoft.com/office/drawing/2014/main" id="{D5F4C950-E453-7EE0-5B01-6539FC104516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430135" y="3950124"/>
            <a:ext cx="3306445" cy="17189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F6078B-EE3A-08D3-36B8-BFB5950DEC82}"/>
              </a:ext>
            </a:extLst>
          </p:cNvPr>
          <p:cNvSpPr txBox="1"/>
          <p:nvPr/>
        </p:nvSpPr>
        <p:spPr>
          <a:xfrm>
            <a:off x="876300" y="3950124"/>
            <a:ext cx="1189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4390F-BE83-272B-DA02-22788E136ACE}"/>
              </a:ext>
            </a:extLst>
          </p:cNvPr>
          <p:cNvSpPr txBox="1"/>
          <p:nvPr/>
        </p:nvSpPr>
        <p:spPr>
          <a:xfrm>
            <a:off x="4166871" y="5656369"/>
            <a:ext cx="1189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2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B5626E-0C9C-3ADE-2FBE-4491559D5313}"/>
              </a:ext>
            </a:extLst>
          </p:cNvPr>
          <p:cNvSpPr txBox="1"/>
          <p:nvPr/>
        </p:nvSpPr>
        <p:spPr>
          <a:xfrm>
            <a:off x="7468587" y="5689059"/>
            <a:ext cx="1189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3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86D69916-540E-8909-A849-072F24CB6B83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>
            <a:off x="7679161" y="1558263"/>
            <a:ext cx="2102238" cy="225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7D1DD5F-2065-1DA2-0BF2-1318AE2BEFF4}"/>
              </a:ext>
            </a:extLst>
          </p:cNvPr>
          <p:cNvCxnSpPr>
            <a:stCxn id="13" idx="3"/>
          </p:cNvCxnSpPr>
          <p:nvPr/>
        </p:nvCxnSpPr>
        <p:spPr>
          <a:xfrm>
            <a:off x="4140200" y="6492875"/>
            <a:ext cx="16471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2B36D03-6FD5-BDB2-9DCC-0568E64C17B9}"/>
              </a:ext>
            </a:extLst>
          </p:cNvPr>
          <p:cNvSpPr txBox="1"/>
          <p:nvPr/>
        </p:nvSpPr>
        <p:spPr>
          <a:xfrm>
            <a:off x="5809617" y="6308209"/>
            <a:ext cx="1189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0A2F17-B8A1-89C5-16C5-82378A28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714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9530203-EE00-B48D-6F35-6F3A26250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Perspective-n-Point (PnP)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CDE013-EC0A-5AE9-A7BF-71995DF7AB23}"/>
              </a:ext>
            </a:extLst>
          </p:cNvPr>
          <p:cNvSpPr txBox="1"/>
          <p:nvPr/>
        </p:nvSpPr>
        <p:spPr>
          <a:xfrm>
            <a:off x="838200" y="175820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Это новый Frame 3, мы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сматчили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его 2D фичи с 2D фичами Frame 2. То есть у нас есть информация, куда 3D проецируются на Frame 3.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5BD13-5340-59E6-64E6-070AC32FF6A7}"/>
              </a:ext>
            </a:extLst>
          </p:cNvPr>
          <p:cNvSpPr txBox="1"/>
          <p:nvPr/>
        </p:nvSpPr>
        <p:spPr>
          <a:xfrm>
            <a:off x="835490" y="59850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Минимальной задачей 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PnP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является P3P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(3 пары фич для нахождения R и 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95DCF5-82F7-4D4D-28DB-4C05033A74EC}"/>
              </a:ext>
            </a:extLst>
          </p:cNvPr>
          <p:cNvSpPr txBox="1"/>
          <p:nvPr/>
        </p:nvSpPr>
        <p:spPr>
          <a:xfrm>
            <a:off x="8458200" y="1690688"/>
            <a:ext cx="3520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Эти 3D точки мы восстановили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из Frame 2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5358D39-F064-7F83-967F-EC8B4AB33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485" y="2523320"/>
            <a:ext cx="3877235" cy="38772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9E10F56-D52C-E78E-AE31-4AD90E462218}"/>
              </a:ext>
            </a:extLst>
          </p:cNvPr>
          <p:cNvSpPr txBox="1"/>
          <p:nvPr/>
        </p:nvSpPr>
        <p:spPr>
          <a:xfrm>
            <a:off x="8458200" y="6123543"/>
            <a:ext cx="266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Задача – найти R и T</a:t>
            </a:r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6474A1BD-4D9B-317B-9AA3-AD7BCA3E5D35}"/>
              </a:ext>
            </a:extLst>
          </p:cNvPr>
          <p:cNvCxnSpPr>
            <a:cxnSpLocks/>
          </p:cNvCxnSpPr>
          <p:nvPr/>
        </p:nvCxnSpPr>
        <p:spPr>
          <a:xfrm flipH="1">
            <a:off x="9302800" y="2135937"/>
            <a:ext cx="972820" cy="880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93F37DB9-0028-5CBC-1D35-E09409AD7E33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9031111" y="5418667"/>
            <a:ext cx="760589" cy="704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5DB3B9-CD18-A08E-9ADE-1456357F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029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C75505-6D19-BA88-21D1-997D2C5BB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F35F27C-0E09-DA04-CFE6-1B3D9D3E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Простейший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SLAM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E47369-2B15-43C5-C201-D1BDB34FE85F}"/>
              </a:ext>
            </a:extLst>
          </p:cNvPr>
          <p:cNvSpPr txBox="1"/>
          <p:nvPr/>
        </p:nvSpPr>
        <p:spPr>
          <a:xfrm>
            <a:off x="7118679" y="17498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Матчим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точки, находим R, T с помощью 5pt, 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триангулируем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3D точки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018CDD-1FF2-DE50-B4F0-D0712BF36C33}"/>
              </a:ext>
            </a:extLst>
          </p:cNvPr>
          <p:cNvSpPr txBox="1"/>
          <p:nvPr/>
        </p:nvSpPr>
        <p:spPr>
          <a:xfrm>
            <a:off x="4396462" y="6211669"/>
            <a:ext cx="9681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Матчим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точки, находим R, T с помощью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PnP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триангулируем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3D точки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309D12-BECD-2CF6-01C2-719EE5FCE7D7}"/>
              </a:ext>
            </a:extLst>
          </p:cNvPr>
          <p:cNvSpPr txBox="1"/>
          <p:nvPr/>
        </p:nvSpPr>
        <p:spPr>
          <a:xfrm>
            <a:off x="6577466" y="1070651"/>
            <a:ext cx="692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 &amp; Frame 2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3B870B-4122-C3EE-9718-31A6BC8BCFD5}"/>
              </a:ext>
            </a:extLst>
          </p:cNvPr>
          <p:cNvSpPr txBox="1"/>
          <p:nvPr/>
        </p:nvSpPr>
        <p:spPr>
          <a:xfrm>
            <a:off x="172085" y="6350168"/>
            <a:ext cx="3460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 &amp; Frame 2 &amp; Frame 3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4303">
            <a:extLst>
              <a:ext uri="{FF2B5EF4-FFF2-40B4-BE49-F238E27FC236}">
                <a16:creationId xmlns:a16="http://schemas.microsoft.com/office/drawing/2014/main" id="{8EE505FA-24BB-E79F-1127-D25454F946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2085" y="1343068"/>
            <a:ext cx="5917565" cy="1548765"/>
          </a:xfrm>
          <a:prstGeom prst="rect">
            <a:avLst/>
          </a:prstGeom>
        </p:spPr>
      </p:pic>
      <p:pic>
        <p:nvPicPr>
          <p:cNvPr id="14" name="Picture 14305">
            <a:extLst>
              <a:ext uri="{FF2B5EF4-FFF2-40B4-BE49-F238E27FC236}">
                <a16:creationId xmlns:a16="http://schemas.microsoft.com/office/drawing/2014/main" id="{3E84686B-C4E4-49B0-6FE5-6512CCB2B24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143250" y="2892468"/>
            <a:ext cx="5917565" cy="1536065"/>
          </a:xfrm>
          <a:prstGeom prst="rect">
            <a:avLst/>
          </a:prstGeom>
        </p:spPr>
      </p:pic>
      <p:pic>
        <p:nvPicPr>
          <p:cNvPr id="15" name="Picture 14307">
            <a:extLst>
              <a:ext uri="{FF2B5EF4-FFF2-40B4-BE49-F238E27FC236}">
                <a16:creationId xmlns:a16="http://schemas.microsoft.com/office/drawing/2014/main" id="{120DBFAA-462F-F933-B189-E797C5E7EF6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102350" y="4429168"/>
            <a:ext cx="5917565" cy="15487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4018CDD-1FF2-DE50-B4F0-D0712BF36C33}"/>
              </a:ext>
            </a:extLst>
          </p:cNvPr>
          <p:cNvSpPr txBox="1"/>
          <p:nvPr/>
        </p:nvSpPr>
        <p:spPr>
          <a:xfrm>
            <a:off x="172085" y="2915897"/>
            <a:ext cx="1189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1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948F3C-DAA9-D5B9-CA99-B90175D49972}"/>
              </a:ext>
            </a:extLst>
          </p:cNvPr>
          <p:cNvSpPr txBox="1"/>
          <p:nvPr/>
        </p:nvSpPr>
        <p:spPr>
          <a:xfrm>
            <a:off x="3143250" y="4399343"/>
            <a:ext cx="692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2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870363-C7AF-E3FC-96A5-9F6584A7A65A}"/>
              </a:ext>
            </a:extLst>
          </p:cNvPr>
          <p:cNvSpPr txBox="1"/>
          <p:nvPr/>
        </p:nvSpPr>
        <p:spPr>
          <a:xfrm>
            <a:off x="6102350" y="5977933"/>
            <a:ext cx="692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3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7C66B5-E5F5-3FD6-AFC7-19A3C1996AAA}"/>
              </a:ext>
            </a:extLst>
          </p:cNvPr>
          <p:cNvSpPr txBox="1"/>
          <p:nvPr/>
        </p:nvSpPr>
        <p:spPr>
          <a:xfrm>
            <a:off x="9144394" y="5965736"/>
            <a:ext cx="692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4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2437B9FD-7C29-F21A-681B-C1C5B3B26C57}"/>
              </a:ext>
            </a:extLst>
          </p:cNvPr>
          <p:cNvCxnSpPr/>
          <p:nvPr/>
        </p:nvCxnSpPr>
        <p:spPr>
          <a:xfrm>
            <a:off x="7974957" y="1439983"/>
            <a:ext cx="1590683" cy="309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E865B25A-E7C2-EA0D-41B3-EF5FD4B7AA3A}"/>
              </a:ext>
            </a:extLst>
          </p:cNvPr>
          <p:cNvCxnSpPr>
            <a:stCxn id="12" idx="3"/>
            <a:endCxn id="7" idx="1"/>
          </p:cNvCxnSpPr>
          <p:nvPr/>
        </p:nvCxnSpPr>
        <p:spPr>
          <a:xfrm>
            <a:off x="3632103" y="6534834"/>
            <a:ext cx="76435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309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2C3670-1C31-8200-5280-3E023C37D6B4}"/>
                  </a:ext>
                </a:extLst>
              </p:cNvPr>
              <p:cNvSpPr txBox="1"/>
              <p:nvPr/>
            </p:nvSpPr>
            <p:spPr>
              <a:xfrm>
                <a:off x="838200" y="2136338"/>
                <a:ext cx="7604760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cv2.findEssentialMat(...)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найти существенную матрицу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cv2.recoverPose(...)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разложить существенную матрицу в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и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cv2.solveP3P(...)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получить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и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после решения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P3P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cv2.solvePnP(...)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получить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и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после решения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PnP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cv2.triangulatePoints(...)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триангуляция точек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2C3670-1C31-8200-5280-3E023C37D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36338"/>
                <a:ext cx="7604760" cy="2585323"/>
              </a:xfrm>
              <a:prstGeom prst="rect">
                <a:avLst/>
              </a:prstGeom>
              <a:blipFill>
                <a:blip r:embed="rId2"/>
                <a:stretch>
                  <a:fillRect l="-722" t="-1176" b="-25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D7956B-6D01-1013-0F3D-C4847779C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5243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A880D-99EC-6DB5-239F-C899A79AE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EF279C-FCA0-538D-A37D-1CF582219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Библиотеки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558AA-884C-B076-E24F-7FA48C0A8A91}"/>
              </a:ext>
            </a:extLst>
          </p:cNvPr>
          <p:cNvSpPr txBox="1"/>
          <p:nvPr/>
        </p:nvSpPr>
        <p:spPr>
          <a:xfrm>
            <a:off x="838200" y="20125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Линейная алгебра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7D4210-3706-9939-EC1D-1CCC6ECC6C4D}"/>
              </a:ext>
            </a:extLst>
          </p:cNvPr>
          <p:cNvSpPr txBox="1"/>
          <p:nvPr/>
        </p:nvSpPr>
        <p:spPr>
          <a:xfrm>
            <a:off x="4762500" y="2059009"/>
            <a:ext cx="289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SE(3)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361FF-FFAA-1B3F-E5F0-A1C02EACE79C}"/>
              </a:ext>
            </a:extLst>
          </p:cNvPr>
          <p:cNvSpPr txBox="1"/>
          <p:nvPr/>
        </p:nvSpPr>
        <p:spPr>
          <a:xfrm>
            <a:off x="7658100" y="2059068"/>
            <a:ext cx="3924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Алгоритмы реконструкции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B59381-DFB6-7760-E3C0-A74C26D8D781}"/>
              </a:ext>
            </a:extLst>
          </p:cNvPr>
          <p:cNvSpPr txBox="1"/>
          <p:nvPr/>
        </p:nvSpPr>
        <p:spPr>
          <a:xfrm>
            <a:off x="838200" y="2521567"/>
            <a:ext cx="649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Eigen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55721C-89E9-49CC-1D63-221A306FC3B7}"/>
              </a:ext>
            </a:extLst>
          </p:cNvPr>
          <p:cNvSpPr txBox="1"/>
          <p:nvPr/>
        </p:nvSpPr>
        <p:spPr>
          <a:xfrm>
            <a:off x="4762500" y="2521567"/>
            <a:ext cx="649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Sophus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C31DEE-0738-8C2A-4131-94158C856B23}"/>
              </a:ext>
            </a:extLst>
          </p:cNvPr>
          <p:cNvSpPr txBox="1"/>
          <p:nvPr/>
        </p:nvSpPr>
        <p:spPr>
          <a:xfrm>
            <a:off x="4762500" y="2932866"/>
            <a:ext cx="649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manif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87791F-6602-DDE5-D69D-55194A1F1CA1}"/>
              </a:ext>
            </a:extLst>
          </p:cNvPr>
          <p:cNvSpPr txBox="1"/>
          <p:nvPr/>
        </p:nvSpPr>
        <p:spPr>
          <a:xfrm>
            <a:off x="7658100" y="2521567"/>
            <a:ext cx="2869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OpenCV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tutorials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43539B-3CF5-7D9D-9EE4-A8F9B852C26F}"/>
              </a:ext>
            </a:extLst>
          </p:cNvPr>
          <p:cNvSpPr txBox="1"/>
          <p:nvPr/>
        </p:nvSpPr>
        <p:spPr>
          <a:xfrm>
            <a:off x="7658100" y="2935603"/>
            <a:ext cx="3314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OpenGV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7E38916-5B8E-0DB3-D9B6-8EC20DF6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027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ECCE1FE-A4A1-92F8-8E8C-1637BFAAD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Использованные материалы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18ED8384-5379-6D99-B399-029D94FFA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Материалы курса 3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DCV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от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DeepSchool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автор презентации – Игорь Ильин, разработчик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SLAM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Документация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OpenCV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Материалы курса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Computer Vision, Carnegie Mellon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57B136-87EB-4CA5-6A3A-E951DEA5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6509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2002603-4B84-FDBC-55AC-252BA1DEA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i="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A monocular SLAM system based on SIFT features for gastroscope tracking</a:t>
            </a:r>
            <a:endParaRPr lang="en-US" sz="240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Real time SLAM in Endoscopy Applications</a:t>
            </a:r>
            <a:endParaRPr lang="en-US" sz="240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KDD 2019: SLAM Endoscopy Enhanced by Adversarial Depth Prediction - Reconstruction of Colon Phantom</a:t>
            </a:r>
            <a:endParaRPr lang="en-US" sz="240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EndoSLAM</a:t>
            </a:r>
            <a:r>
              <a:rPr lang="en-US" sz="240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 dataset and an unsupervised monocular visual odometry and depth estimation approach for endoscopic videos</a:t>
            </a:r>
            <a:endParaRPr lang="en-US" sz="240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CudaSIFT</a:t>
            </a:r>
            <a:r>
              <a:rPr lang="en-US" sz="240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-SLAM: multiple-map visual SLAM for full procedure mapping in real human endoscopy</a:t>
            </a:r>
            <a:endParaRPr lang="en-US" sz="240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58743DC-C662-BE97-5C58-ACF9F3F1E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Примеры работ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EA8A98E-C3F0-BFEA-6B3A-BCE1062B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6030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7446</TotalTime>
  <Words>1552</Words>
  <Application>Microsoft Office PowerPoint</Application>
  <PresentationFormat>Широкоэкранный</PresentationFormat>
  <Paragraphs>314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5" baseType="lpstr">
      <vt:lpstr>Aptos</vt:lpstr>
      <vt:lpstr>Arial</vt:lpstr>
      <vt:lpstr>Calibri</vt:lpstr>
      <vt:lpstr>Calibri Light</vt:lpstr>
      <vt:lpstr>Cambria Math</vt:lpstr>
      <vt:lpstr>Тема Office</vt:lpstr>
      <vt:lpstr>SLAM</vt:lpstr>
      <vt:lpstr>Обзор</vt:lpstr>
      <vt:lpstr>О чем будем говорить?</vt:lpstr>
      <vt:lpstr>SE(3)</vt:lpstr>
      <vt:lpstr>SE(3). Из мира в камеру и наоборот.</vt:lpstr>
      <vt:lpstr>SE(3). Основные операции.</vt:lpstr>
      <vt:lpstr>Формулировка проблемы</vt:lpstr>
      <vt:lpstr>Формулировка проблемы</vt:lpstr>
      <vt:lpstr>Эпиполярная геометрия</vt:lpstr>
      <vt:lpstr>Существенная матрица</vt:lpstr>
      <vt:lpstr>Существенная матрица</vt:lpstr>
      <vt:lpstr>Базовый алгоритм реконструкции</vt:lpstr>
      <vt:lpstr>Singular Value Decomposition</vt:lpstr>
      <vt:lpstr>8-точечный алгоритм (The Eight-Point Linear Algorithm)</vt:lpstr>
      <vt:lpstr>8-точечный алгоритм (The Eight-Point Linear Algorithm)</vt:lpstr>
      <vt:lpstr>Eight-Point Algorithm (Longuet-Higgins ’81)</vt:lpstr>
      <vt:lpstr>Минимальные задачи</vt:lpstr>
      <vt:lpstr>Много точек для минимальных задач</vt:lpstr>
      <vt:lpstr>Восстановление точек</vt:lpstr>
      <vt:lpstr>Пример: стереокамера</vt:lpstr>
      <vt:lpstr>Фундаментальная матрица</vt:lpstr>
      <vt:lpstr>Промежуточные итоги</vt:lpstr>
      <vt:lpstr>А что дальше?</vt:lpstr>
      <vt:lpstr>Perspective-n-Point (PnP)</vt:lpstr>
      <vt:lpstr>Простейший SLAM</vt:lpstr>
      <vt:lpstr>OpenCV</vt:lpstr>
      <vt:lpstr>Библиотеки</vt:lpstr>
      <vt:lpstr>Использованные материалы</vt:lpstr>
      <vt:lpstr>Примеры работ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Кумов Вячеслав Сергеевич</dc:creator>
  <cp:lastModifiedBy>a165</cp:lastModifiedBy>
  <cp:revision>153</cp:revision>
  <dcterms:created xsi:type="dcterms:W3CDTF">2024-11-06T14:38:58Z</dcterms:created>
  <dcterms:modified xsi:type="dcterms:W3CDTF">2025-12-06T09:20:02Z</dcterms:modified>
</cp:coreProperties>
</file>